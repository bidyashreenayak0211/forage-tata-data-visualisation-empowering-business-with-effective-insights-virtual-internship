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mo" panose="020B0604020202020204" charset="0"/>
      <p:regular r:id="rId12"/>
    </p:embeddedFont>
    <p:embeddedFont>
      <p:font typeface="League Spartan"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81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sv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6.svg"/><Relationship Id="rId4" Type="http://schemas.openxmlformats.org/officeDocument/2006/relationships/image" Target="../media/image3.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6635353" y="6637609"/>
            <a:ext cx="8572348" cy="4043501"/>
          </a:xfrm>
          <a:custGeom>
            <a:avLst/>
            <a:gdLst/>
            <a:ahLst/>
            <a:cxnLst/>
            <a:rect l="l" t="t" r="r" b="b"/>
            <a:pathLst>
              <a:path w="8572348" h="4043501">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081354" y="1028700"/>
            <a:ext cx="4282420" cy="8229600"/>
          </a:xfrm>
          <a:custGeom>
            <a:avLst/>
            <a:gdLst/>
            <a:ahLst/>
            <a:cxnLst/>
            <a:rect l="l" t="t" r="r" b="b"/>
            <a:pathLst>
              <a:path w="4282420" h="8229600">
                <a:moveTo>
                  <a:pt x="0" y="0"/>
                </a:moveTo>
                <a:lnTo>
                  <a:pt x="4282420" y="0"/>
                </a:lnTo>
                <a:lnTo>
                  <a:pt x="4282420" y="8229600"/>
                </a:lnTo>
                <a:lnTo>
                  <a:pt x="0" y="8229600"/>
                </a:lnTo>
                <a:lnTo>
                  <a:pt x="0" y="0"/>
                </a:lnTo>
                <a:close/>
              </a:path>
            </a:pathLst>
          </a:custGeom>
          <a:blipFill>
            <a:blip r:embed="rId4"/>
            <a:stretch>
              <a:fillRect/>
            </a:stretch>
          </a:blipFill>
        </p:spPr>
      </p:sp>
      <p:sp>
        <p:nvSpPr>
          <p:cNvPr id="4" name="Freeform 4"/>
          <p:cNvSpPr/>
          <p:nvPr/>
        </p:nvSpPr>
        <p:spPr>
          <a:xfrm flipH="1">
            <a:off x="0" y="1028700"/>
            <a:ext cx="4282420" cy="8229600"/>
          </a:xfrm>
          <a:custGeom>
            <a:avLst/>
            <a:gdLst/>
            <a:ahLst/>
            <a:cxnLst/>
            <a:rect l="l" t="t" r="r" b="b"/>
            <a:pathLst>
              <a:path w="4282420" h="8229600">
                <a:moveTo>
                  <a:pt x="4282420" y="0"/>
                </a:moveTo>
                <a:lnTo>
                  <a:pt x="0" y="0"/>
                </a:lnTo>
                <a:lnTo>
                  <a:pt x="0" y="8229600"/>
                </a:lnTo>
                <a:lnTo>
                  <a:pt x="4282420" y="8229600"/>
                </a:lnTo>
                <a:lnTo>
                  <a:pt x="4282420" y="0"/>
                </a:lnTo>
                <a:close/>
              </a:path>
            </a:pathLst>
          </a:custGeom>
          <a:blipFill>
            <a:blip r:embed="rId4"/>
            <a:stretch>
              <a:fillRect/>
            </a:stretch>
          </a:blipFill>
        </p:spPr>
      </p:sp>
      <p:sp>
        <p:nvSpPr>
          <p:cNvPr id="5" name="TextBox 5"/>
          <p:cNvSpPr txBox="1"/>
          <p:nvPr/>
        </p:nvSpPr>
        <p:spPr>
          <a:xfrm>
            <a:off x="4282420" y="4290223"/>
            <a:ext cx="10067434" cy="1763703"/>
          </a:xfrm>
          <a:prstGeom prst="rect">
            <a:avLst/>
          </a:prstGeom>
        </p:spPr>
        <p:txBody>
          <a:bodyPr lIns="0" tIns="0" rIns="0" bIns="0" rtlCol="0" anchor="t">
            <a:spAutoFit/>
          </a:bodyPr>
          <a:lstStyle/>
          <a:p>
            <a:pPr algn="ctr">
              <a:lnSpc>
                <a:spcPts val="4642"/>
              </a:lnSpc>
            </a:pPr>
            <a:r>
              <a:rPr lang="en-US" sz="4380" b="1" spc="438">
                <a:solidFill>
                  <a:srgbClr val="FFFFFF"/>
                </a:solidFill>
                <a:latin typeface="League Spartan"/>
                <a:ea typeface="League Spartan"/>
                <a:cs typeface="League Spartan"/>
                <a:sym typeface="League Spartan"/>
              </a:rPr>
              <a:t>TATA DATA VISUALIZATION: EMPOWERING BUSINESS WITH EFFECTIVE INSIGHTS</a:t>
            </a:r>
          </a:p>
        </p:txBody>
      </p:sp>
      <p:sp>
        <p:nvSpPr>
          <p:cNvPr id="6" name="Freeform 6"/>
          <p:cNvSpPr/>
          <p:nvPr/>
        </p:nvSpPr>
        <p:spPr>
          <a:xfrm>
            <a:off x="12467517" y="6745731"/>
            <a:ext cx="6201483" cy="4043501"/>
          </a:xfrm>
          <a:custGeom>
            <a:avLst/>
            <a:gdLst/>
            <a:ahLst/>
            <a:cxnLst/>
            <a:rect l="l" t="t" r="r" b="b"/>
            <a:pathLst>
              <a:path w="8572348" h="4043501">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8278001" y="1028700"/>
            <a:ext cx="1731997" cy="1499565"/>
          </a:xfrm>
          <a:custGeom>
            <a:avLst/>
            <a:gdLst/>
            <a:ahLst/>
            <a:cxnLst/>
            <a:rect l="l" t="t" r="r" b="b"/>
            <a:pathLst>
              <a:path w="1731997" h="1499565">
                <a:moveTo>
                  <a:pt x="0" y="0"/>
                </a:moveTo>
                <a:lnTo>
                  <a:pt x="1731998" y="0"/>
                </a:lnTo>
                <a:lnTo>
                  <a:pt x="1731998" y="1499565"/>
                </a:lnTo>
                <a:lnTo>
                  <a:pt x="0" y="14995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6473180" y="6726681"/>
            <a:ext cx="5341640" cy="788353"/>
          </a:xfrm>
          <a:prstGeom prst="rect">
            <a:avLst/>
          </a:prstGeom>
        </p:spPr>
        <p:txBody>
          <a:bodyPr lIns="0" tIns="0" rIns="0" bIns="0" rtlCol="0" anchor="t">
            <a:spAutoFit/>
          </a:bodyPr>
          <a:lstStyle/>
          <a:p>
            <a:pPr algn="ctr">
              <a:lnSpc>
                <a:spcPts val="3096"/>
              </a:lnSpc>
            </a:pPr>
            <a:r>
              <a:rPr lang="en-US" sz="2477" spc="247">
                <a:solidFill>
                  <a:srgbClr val="FFFFFF"/>
                </a:solidFill>
                <a:latin typeface="Arimo"/>
                <a:ea typeface="Arimo"/>
                <a:cs typeface="Arimo"/>
                <a:sym typeface="Arimo"/>
              </a:rPr>
              <a:t>Prepared By -</a:t>
            </a:r>
          </a:p>
          <a:p>
            <a:pPr algn="ctr">
              <a:lnSpc>
                <a:spcPts val="3096"/>
              </a:lnSpc>
            </a:pPr>
            <a:r>
              <a:rPr lang="en-US" sz="2477" spc="247">
                <a:solidFill>
                  <a:srgbClr val="FFFFFF"/>
                </a:solidFill>
                <a:latin typeface="Arimo"/>
                <a:ea typeface="Arimo"/>
                <a:cs typeface="Arimo"/>
                <a:sym typeface="Arimo"/>
              </a:rPr>
              <a:t>Bidyashree Nayak</a:t>
            </a:r>
          </a:p>
        </p:txBody>
      </p:sp>
      <p:sp>
        <p:nvSpPr>
          <p:cNvPr id="9" name="Freeform 9"/>
          <p:cNvSpPr/>
          <p:nvPr/>
        </p:nvSpPr>
        <p:spPr>
          <a:xfrm>
            <a:off x="0" y="6637609"/>
            <a:ext cx="8788591" cy="4043501"/>
          </a:xfrm>
          <a:custGeom>
            <a:avLst/>
            <a:gdLst/>
            <a:ahLst/>
            <a:cxnLst/>
            <a:rect l="l" t="t" r="r" b="b"/>
            <a:pathLst>
              <a:path w="8572348" h="4043501">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flipH="1">
            <a:off x="8788436" y="-316726"/>
            <a:ext cx="7886994" cy="10920453"/>
          </a:xfrm>
          <a:custGeom>
            <a:avLst/>
            <a:gdLst/>
            <a:ahLst/>
            <a:cxnLst/>
            <a:rect l="l" t="t" r="r" b="b"/>
            <a:pathLst>
              <a:path w="7886994" h="10920453">
                <a:moveTo>
                  <a:pt x="7886994" y="0"/>
                </a:moveTo>
                <a:lnTo>
                  <a:pt x="0" y="0"/>
                </a:lnTo>
                <a:lnTo>
                  <a:pt x="0" y="10920452"/>
                </a:lnTo>
                <a:lnTo>
                  <a:pt x="7886994" y="10920452"/>
                </a:lnTo>
                <a:lnTo>
                  <a:pt x="7886994" y="0"/>
                </a:lnTo>
                <a:close/>
              </a:path>
            </a:pathLst>
          </a:custGeom>
          <a:blipFill>
            <a:blip r:embed="rId2"/>
            <a:stretch>
              <a:fillRect/>
            </a:stretch>
          </a:blipFill>
        </p:spPr>
      </p:sp>
      <p:grpSp>
        <p:nvGrpSpPr>
          <p:cNvPr id="3" name="Group 3"/>
          <p:cNvGrpSpPr/>
          <p:nvPr/>
        </p:nvGrpSpPr>
        <p:grpSpPr>
          <a:xfrm>
            <a:off x="9144000" y="0"/>
            <a:ext cx="9144000" cy="10287000"/>
            <a:chOff x="0" y="0"/>
            <a:chExt cx="2408296" cy="2709333"/>
          </a:xfrm>
        </p:grpSpPr>
        <p:sp>
          <p:nvSpPr>
            <p:cNvPr id="4" name="Freeform 4"/>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solidFill>
              <a:srgbClr val="FFFFFF"/>
            </a:solidFill>
          </p:spPr>
        </p:sp>
        <p:sp>
          <p:nvSpPr>
            <p:cNvPr id="5" name="TextBox 5"/>
            <p:cNvSpPr txBox="1"/>
            <p:nvPr/>
          </p:nvSpPr>
          <p:spPr>
            <a:xfrm>
              <a:off x="0" y="-47625"/>
              <a:ext cx="2408296" cy="275695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410120" y="4168930"/>
            <a:ext cx="6693605" cy="5288088"/>
          </a:xfrm>
          <a:prstGeom prst="rect">
            <a:avLst/>
          </a:prstGeom>
        </p:spPr>
        <p:txBody>
          <a:bodyPr lIns="0" tIns="0" rIns="0" bIns="0" rtlCol="0" anchor="t">
            <a:spAutoFit/>
          </a:bodyPr>
          <a:lstStyle/>
          <a:p>
            <a:pPr marL="680254" lvl="1" indent="-340127" algn="l">
              <a:lnSpc>
                <a:spcPts val="6017"/>
              </a:lnSpc>
              <a:buFont typeface="Arial"/>
              <a:buChar char="•"/>
            </a:pPr>
            <a:r>
              <a:rPr lang="en-US" sz="3150" spc="315">
                <a:solidFill>
                  <a:srgbClr val="FFFFFF"/>
                </a:solidFill>
                <a:latin typeface="Arimo"/>
                <a:ea typeface="Arimo"/>
                <a:cs typeface="Arimo"/>
                <a:sym typeface="Arimo"/>
              </a:rPr>
              <a:t>Introduction</a:t>
            </a:r>
          </a:p>
          <a:p>
            <a:pPr marL="680254" lvl="1" indent="-340127" algn="l">
              <a:lnSpc>
                <a:spcPts val="6017"/>
              </a:lnSpc>
              <a:buFont typeface="Arial"/>
              <a:buChar char="•"/>
            </a:pPr>
            <a:r>
              <a:rPr lang="en-US" sz="3150" spc="315">
                <a:solidFill>
                  <a:srgbClr val="FFFFFF"/>
                </a:solidFill>
                <a:latin typeface="Arimo"/>
                <a:ea typeface="Arimo"/>
                <a:cs typeface="Arimo"/>
                <a:sym typeface="Arimo"/>
              </a:rPr>
              <a:t>Thought Process</a:t>
            </a:r>
          </a:p>
          <a:p>
            <a:pPr marL="680254" lvl="1" indent="-340127" algn="l">
              <a:lnSpc>
                <a:spcPts val="6017"/>
              </a:lnSpc>
              <a:buFont typeface="Arial"/>
              <a:buChar char="•"/>
            </a:pPr>
            <a:r>
              <a:rPr lang="en-US" sz="3150" spc="315">
                <a:solidFill>
                  <a:srgbClr val="FFFFFF"/>
                </a:solidFill>
                <a:latin typeface="Arimo"/>
                <a:ea typeface="Arimo"/>
                <a:cs typeface="Arimo"/>
                <a:sym typeface="Arimo"/>
              </a:rPr>
              <a:t>Revenue by Month, 2011</a:t>
            </a:r>
          </a:p>
          <a:p>
            <a:pPr marL="680254" lvl="1" indent="-340127" algn="l">
              <a:lnSpc>
                <a:spcPts val="6017"/>
              </a:lnSpc>
              <a:buFont typeface="Arial"/>
              <a:buChar char="•"/>
            </a:pPr>
            <a:r>
              <a:rPr lang="en-US" sz="3150" spc="315">
                <a:solidFill>
                  <a:srgbClr val="FFFFFF"/>
                </a:solidFill>
                <a:latin typeface="Arimo"/>
                <a:ea typeface="Arimo"/>
                <a:cs typeface="Arimo"/>
                <a:sym typeface="Arimo"/>
              </a:rPr>
              <a:t>Top 10 Countries by Revenue and Their Quantities</a:t>
            </a:r>
          </a:p>
          <a:p>
            <a:pPr algn="l">
              <a:lnSpc>
                <a:spcPts val="6017"/>
              </a:lnSpc>
            </a:pPr>
            <a:endParaRPr lang="en-US" sz="3150" spc="315">
              <a:solidFill>
                <a:srgbClr val="FFFFFF"/>
              </a:solidFill>
              <a:latin typeface="Arimo"/>
              <a:ea typeface="Arimo"/>
              <a:cs typeface="Arimo"/>
              <a:sym typeface="Arimo"/>
            </a:endParaRPr>
          </a:p>
        </p:txBody>
      </p:sp>
      <p:sp>
        <p:nvSpPr>
          <p:cNvPr id="7" name="TextBox 7"/>
          <p:cNvSpPr txBox="1"/>
          <p:nvPr/>
        </p:nvSpPr>
        <p:spPr>
          <a:xfrm>
            <a:off x="10113103" y="3555133"/>
            <a:ext cx="7146197" cy="5327252"/>
          </a:xfrm>
          <a:prstGeom prst="rect">
            <a:avLst/>
          </a:prstGeom>
        </p:spPr>
        <p:txBody>
          <a:bodyPr lIns="0" tIns="0" rIns="0" bIns="0" rtlCol="0" anchor="t">
            <a:spAutoFit/>
          </a:bodyPr>
          <a:lstStyle/>
          <a:p>
            <a:pPr marL="687698" lvl="1" indent="-343849" algn="l">
              <a:lnSpc>
                <a:spcPts val="6083"/>
              </a:lnSpc>
              <a:buFont typeface="Arial"/>
              <a:buChar char="•"/>
            </a:pPr>
            <a:r>
              <a:rPr lang="en-US" sz="3185" spc="318">
                <a:solidFill>
                  <a:srgbClr val="194A8D"/>
                </a:solidFill>
                <a:latin typeface="Arimo"/>
                <a:ea typeface="Arimo"/>
                <a:cs typeface="Arimo"/>
                <a:sym typeface="Arimo"/>
              </a:rPr>
              <a:t>Top 10 Countries by Revenue and Their Quantities</a:t>
            </a:r>
          </a:p>
          <a:p>
            <a:pPr marL="687698" lvl="1" indent="-343849" algn="l">
              <a:lnSpc>
                <a:spcPts val="6083"/>
              </a:lnSpc>
              <a:buFont typeface="Arial"/>
              <a:buChar char="•"/>
            </a:pPr>
            <a:r>
              <a:rPr lang="en-US" sz="3185" spc="318">
                <a:solidFill>
                  <a:srgbClr val="194A8D"/>
                </a:solidFill>
                <a:latin typeface="Arimo"/>
                <a:ea typeface="Arimo"/>
                <a:cs typeface="Arimo"/>
                <a:sym typeface="Arimo"/>
              </a:rPr>
              <a:t>Top 10 Customers by Revenue</a:t>
            </a:r>
          </a:p>
          <a:p>
            <a:pPr marL="687698" lvl="1" indent="-343849" algn="l">
              <a:lnSpc>
                <a:spcPts val="6083"/>
              </a:lnSpc>
              <a:buFont typeface="Arial"/>
              <a:buChar char="•"/>
            </a:pPr>
            <a:r>
              <a:rPr lang="en-US" sz="3185" spc="318">
                <a:solidFill>
                  <a:srgbClr val="194A8D"/>
                </a:solidFill>
                <a:latin typeface="Arimo"/>
                <a:ea typeface="Arimo"/>
                <a:cs typeface="Arimo"/>
                <a:sym typeface="Arimo"/>
              </a:rPr>
              <a:t>Revenue by Country</a:t>
            </a:r>
          </a:p>
          <a:p>
            <a:pPr algn="l">
              <a:lnSpc>
                <a:spcPts val="6083"/>
              </a:lnSpc>
            </a:pPr>
            <a:endParaRPr lang="en-US" sz="3185" spc="318">
              <a:solidFill>
                <a:srgbClr val="194A8D"/>
              </a:solidFill>
              <a:latin typeface="Arimo"/>
              <a:ea typeface="Arimo"/>
              <a:cs typeface="Arimo"/>
              <a:sym typeface="Arimo"/>
            </a:endParaRPr>
          </a:p>
        </p:txBody>
      </p:sp>
      <p:sp>
        <p:nvSpPr>
          <p:cNvPr id="8" name="Freeform 8"/>
          <p:cNvSpPr/>
          <p:nvPr/>
        </p:nvSpPr>
        <p:spPr>
          <a:xfrm>
            <a:off x="8944127" y="8134952"/>
            <a:ext cx="6667707" cy="3145099"/>
          </a:xfrm>
          <a:custGeom>
            <a:avLst/>
            <a:gdLst/>
            <a:ahLst/>
            <a:cxnLst/>
            <a:rect l="l" t="t" r="r" b="b"/>
            <a:pathLst>
              <a:path w="6667707" h="3145099">
                <a:moveTo>
                  <a:pt x="0" y="0"/>
                </a:moveTo>
                <a:lnTo>
                  <a:pt x="6667707" y="0"/>
                </a:lnTo>
                <a:lnTo>
                  <a:pt x="6667707" y="3145098"/>
                </a:lnTo>
                <a:lnTo>
                  <a:pt x="0" y="31450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14182621" y="8134952"/>
            <a:ext cx="6667707" cy="3145099"/>
          </a:xfrm>
          <a:custGeom>
            <a:avLst/>
            <a:gdLst/>
            <a:ahLst/>
            <a:cxnLst/>
            <a:rect l="l" t="t" r="r" b="b"/>
            <a:pathLst>
              <a:path w="6667707" h="3145099">
                <a:moveTo>
                  <a:pt x="0" y="0"/>
                </a:moveTo>
                <a:lnTo>
                  <a:pt x="6667708" y="0"/>
                </a:lnTo>
                <a:lnTo>
                  <a:pt x="6667708" y="3145098"/>
                </a:lnTo>
                <a:lnTo>
                  <a:pt x="0" y="31450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1410120" y="1562100"/>
            <a:ext cx="7086415" cy="2231158"/>
          </a:xfrm>
          <a:prstGeom prst="rect">
            <a:avLst/>
          </a:prstGeom>
        </p:spPr>
        <p:txBody>
          <a:bodyPr lIns="0" tIns="0" rIns="0" bIns="0" rtlCol="0" anchor="t">
            <a:spAutoFit/>
          </a:bodyPr>
          <a:lstStyle/>
          <a:p>
            <a:pPr algn="l">
              <a:lnSpc>
                <a:spcPts val="8655"/>
              </a:lnSpc>
            </a:pPr>
            <a:r>
              <a:rPr lang="en-US" sz="8165" spc="816">
                <a:solidFill>
                  <a:srgbClr val="FFFFFF"/>
                </a:solidFill>
                <a:latin typeface="League Spartan"/>
                <a:ea typeface="League Spartan"/>
                <a:cs typeface="League Spartan"/>
                <a:sym typeface="League Spartan"/>
              </a:rPr>
              <a:t>TABLE OF CONTENT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8633839"/>
            <a:ext cx="18288000" cy="5288583"/>
            <a:chOff x="0" y="0"/>
            <a:chExt cx="2833290" cy="819340"/>
          </a:xfrm>
        </p:grpSpPr>
        <p:sp>
          <p:nvSpPr>
            <p:cNvPr id="3" name="Freeform 3"/>
            <p:cNvSpPr/>
            <p:nvPr/>
          </p:nvSpPr>
          <p:spPr>
            <a:xfrm>
              <a:off x="0" y="0"/>
              <a:ext cx="2833290" cy="819340"/>
            </a:xfrm>
            <a:custGeom>
              <a:avLst/>
              <a:gdLst/>
              <a:ahLst/>
              <a:cxnLst/>
              <a:rect l="l" t="t" r="r" b="b"/>
              <a:pathLst>
                <a:path w="2833290" h="819340">
                  <a:moveTo>
                    <a:pt x="0" y="0"/>
                  </a:moveTo>
                  <a:lnTo>
                    <a:pt x="2833290" y="0"/>
                  </a:lnTo>
                  <a:lnTo>
                    <a:pt x="2833290" y="819340"/>
                  </a:lnTo>
                  <a:lnTo>
                    <a:pt x="0" y="819340"/>
                  </a:lnTo>
                  <a:close/>
                </a:path>
              </a:pathLst>
            </a:custGeom>
            <a:blipFill>
              <a:blip r:embed="rId2"/>
              <a:stretch>
                <a:fillRect t="-124703" b="-5687"/>
              </a:stretch>
            </a:blipFill>
          </p:spPr>
        </p:sp>
      </p:grpSp>
      <p:sp>
        <p:nvSpPr>
          <p:cNvPr id="4" name="Freeform 4"/>
          <p:cNvSpPr/>
          <p:nvPr/>
        </p:nvSpPr>
        <p:spPr>
          <a:xfrm rot="-5400000" flipV="1">
            <a:off x="15177010" y="-1253949"/>
            <a:ext cx="2720897" cy="5228794"/>
          </a:xfrm>
          <a:custGeom>
            <a:avLst/>
            <a:gdLst/>
            <a:ahLst/>
            <a:cxnLst/>
            <a:rect l="l" t="t" r="r" b="b"/>
            <a:pathLst>
              <a:path w="2720897" h="5228794">
                <a:moveTo>
                  <a:pt x="0" y="5228795"/>
                </a:moveTo>
                <a:lnTo>
                  <a:pt x="2720897" y="5228795"/>
                </a:lnTo>
                <a:lnTo>
                  <a:pt x="2720897" y="0"/>
                </a:lnTo>
                <a:lnTo>
                  <a:pt x="0" y="0"/>
                </a:lnTo>
                <a:lnTo>
                  <a:pt x="0" y="5228795"/>
                </a:lnTo>
                <a:close/>
              </a:path>
            </a:pathLst>
          </a:custGeom>
          <a:blipFill>
            <a:blip r:embed="rId3"/>
            <a:stretch>
              <a:fillRect/>
            </a:stretch>
          </a:blipFill>
        </p:spPr>
      </p:sp>
      <p:sp>
        <p:nvSpPr>
          <p:cNvPr id="5" name="TextBox 5"/>
          <p:cNvSpPr txBox="1"/>
          <p:nvPr/>
        </p:nvSpPr>
        <p:spPr>
          <a:xfrm>
            <a:off x="1387043" y="1465223"/>
            <a:ext cx="14786917" cy="1135783"/>
          </a:xfrm>
          <a:prstGeom prst="rect">
            <a:avLst/>
          </a:prstGeom>
        </p:spPr>
        <p:txBody>
          <a:bodyPr lIns="0" tIns="0" rIns="0" bIns="0" rtlCol="0" anchor="t">
            <a:spAutoFit/>
          </a:bodyPr>
          <a:lstStyle/>
          <a:p>
            <a:pPr algn="ctr">
              <a:lnSpc>
                <a:spcPts val="8655"/>
              </a:lnSpc>
            </a:pPr>
            <a:r>
              <a:rPr lang="en-US" sz="8165" spc="816">
                <a:solidFill>
                  <a:srgbClr val="FFFFFF"/>
                </a:solidFill>
                <a:latin typeface="League Spartan"/>
                <a:ea typeface="League Spartan"/>
                <a:cs typeface="League Spartan"/>
                <a:sym typeface="League Spartan"/>
              </a:rPr>
              <a:t>INTRODUCTION</a:t>
            </a:r>
          </a:p>
        </p:txBody>
      </p:sp>
      <p:sp>
        <p:nvSpPr>
          <p:cNvPr id="6" name="TextBox 6"/>
          <p:cNvSpPr txBox="1"/>
          <p:nvPr/>
        </p:nvSpPr>
        <p:spPr>
          <a:xfrm>
            <a:off x="1750541" y="3646626"/>
            <a:ext cx="14145200" cy="4080534"/>
          </a:xfrm>
          <a:prstGeom prst="rect">
            <a:avLst/>
          </a:prstGeom>
        </p:spPr>
        <p:txBody>
          <a:bodyPr lIns="0" tIns="0" rIns="0" bIns="0" rtlCol="0" anchor="t">
            <a:spAutoFit/>
          </a:bodyPr>
          <a:lstStyle/>
          <a:p>
            <a:pPr algn="ctr">
              <a:lnSpc>
                <a:spcPts val="3215"/>
              </a:lnSpc>
            </a:pPr>
            <a:r>
              <a:rPr lang="en-US" sz="3033" spc="303">
                <a:solidFill>
                  <a:srgbClr val="FFFFFF"/>
                </a:solidFill>
                <a:latin typeface="Arimo"/>
                <a:ea typeface="Arimo"/>
                <a:cs typeface="Arimo"/>
                <a:sym typeface="Arimo"/>
              </a:rPr>
              <a:t>Hello and welcome. In this presentation, I will take you through our company’s sales performance for the years 2010 and 2011.</a:t>
            </a:r>
          </a:p>
          <a:p>
            <a:pPr algn="ctr">
              <a:lnSpc>
                <a:spcPts val="3215"/>
              </a:lnSpc>
            </a:pPr>
            <a:endParaRPr lang="en-US" sz="3033" spc="303">
              <a:solidFill>
                <a:srgbClr val="FFFFFF"/>
              </a:solidFill>
              <a:latin typeface="Arimo"/>
              <a:ea typeface="Arimo"/>
              <a:cs typeface="Arimo"/>
              <a:sym typeface="Arimo"/>
            </a:endParaRPr>
          </a:p>
          <a:p>
            <a:pPr algn="ctr">
              <a:lnSpc>
                <a:spcPts val="3215"/>
              </a:lnSpc>
            </a:pPr>
            <a:r>
              <a:rPr lang="en-US" sz="3033" spc="303">
                <a:solidFill>
                  <a:srgbClr val="FFFFFF"/>
                </a:solidFill>
                <a:latin typeface="Arimo"/>
                <a:ea typeface="Arimo"/>
                <a:cs typeface="Arimo"/>
                <a:sym typeface="Arimo"/>
              </a:rPr>
              <a:t>I appreciate the opportunity you gave me to dive into this data to gain insightful information about the store’s performance.</a:t>
            </a:r>
          </a:p>
          <a:p>
            <a:pPr algn="ctr">
              <a:lnSpc>
                <a:spcPts val="3215"/>
              </a:lnSpc>
            </a:pPr>
            <a:endParaRPr lang="en-US" sz="3033" spc="303">
              <a:solidFill>
                <a:srgbClr val="FFFFFF"/>
              </a:solidFill>
              <a:latin typeface="Arimo"/>
              <a:ea typeface="Arimo"/>
              <a:cs typeface="Arimo"/>
              <a:sym typeface="Arimo"/>
            </a:endParaRPr>
          </a:p>
          <a:p>
            <a:pPr algn="ctr">
              <a:lnSpc>
                <a:spcPts val="3215"/>
              </a:lnSpc>
            </a:pPr>
            <a:r>
              <a:rPr lang="en-US" sz="3033" spc="303">
                <a:solidFill>
                  <a:srgbClr val="FFFFFF"/>
                </a:solidFill>
                <a:latin typeface="Arimo"/>
                <a:ea typeface="Arimo"/>
                <a:cs typeface="Arimo"/>
                <a:sym typeface="Arimo"/>
              </a:rPr>
              <a:t>Thank you also for the questions you asked since they provided a general direction for the kind of insights you are looking to get from this analysis.</a:t>
            </a:r>
          </a:p>
          <a:p>
            <a:pPr algn="ctr">
              <a:lnSpc>
                <a:spcPts val="3215"/>
              </a:lnSpc>
            </a:pPr>
            <a:endParaRPr lang="en-US" sz="3033" spc="303">
              <a:solidFill>
                <a:srgbClr val="FFFFFF"/>
              </a:solidFill>
              <a:latin typeface="Arimo"/>
              <a:ea typeface="Arimo"/>
              <a:cs typeface="Arimo"/>
              <a:sym typeface="Arimo"/>
            </a:endParaRPr>
          </a:p>
        </p:txBody>
      </p:sp>
      <p:sp>
        <p:nvSpPr>
          <p:cNvPr id="7" name="Freeform 7"/>
          <p:cNvSpPr/>
          <p:nvPr/>
        </p:nvSpPr>
        <p:spPr>
          <a:xfrm rot="-5400000">
            <a:off x="390093" y="-1471468"/>
            <a:ext cx="2720897" cy="5228794"/>
          </a:xfrm>
          <a:custGeom>
            <a:avLst/>
            <a:gdLst/>
            <a:ahLst/>
            <a:cxnLst/>
            <a:rect l="l" t="t" r="r" b="b"/>
            <a:pathLst>
              <a:path w="2720897" h="5228794">
                <a:moveTo>
                  <a:pt x="0" y="0"/>
                </a:moveTo>
                <a:lnTo>
                  <a:pt x="2720897" y="0"/>
                </a:lnTo>
                <a:lnTo>
                  <a:pt x="2720897" y="5228794"/>
                </a:lnTo>
                <a:lnTo>
                  <a:pt x="0" y="5228794"/>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261658" y="-1359176"/>
            <a:ext cx="9754014" cy="13005352"/>
          </a:xfrm>
          <a:custGeom>
            <a:avLst/>
            <a:gdLst/>
            <a:ahLst/>
            <a:cxnLst/>
            <a:rect l="l" t="t" r="r" b="b"/>
            <a:pathLst>
              <a:path w="9754014" h="13005352">
                <a:moveTo>
                  <a:pt x="0" y="0"/>
                </a:moveTo>
                <a:lnTo>
                  <a:pt x="9754015" y="0"/>
                </a:lnTo>
                <a:lnTo>
                  <a:pt x="9754015" y="13005352"/>
                </a:lnTo>
                <a:lnTo>
                  <a:pt x="0" y="13005352"/>
                </a:lnTo>
                <a:lnTo>
                  <a:pt x="0" y="0"/>
                </a:lnTo>
                <a:close/>
              </a:path>
            </a:pathLst>
          </a:custGeom>
          <a:blipFill>
            <a:blip r:embed="rId2">
              <a:alphaModFix amt="39000"/>
            </a:blip>
            <a:stretch>
              <a:fillRect/>
            </a:stretch>
          </a:blipFill>
        </p:spPr>
      </p:sp>
      <p:grpSp>
        <p:nvGrpSpPr>
          <p:cNvPr id="3" name="Group 3"/>
          <p:cNvGrpSpPr/>
          <p:nvPr/>
        </p:nvGrpSpPr>
        <p:grpSpPr>
          <a:xfrm>
            <a:off x="8549770" y="1028700"/>
            <a:ext cx="8709530" cy="2438839"/>
            <a:chOff x="0" y="0"/>
            <a:chExt cx="2644579" cy="740534"/>
          </a:xfrm>
        </p:grpSpPr>
        <p:sp>
          <p:nvSpPr>
            <p:cNvPr id="4" name="Freeform 4"/>
            <p:cNvSpPr/>
            <p:nvPr/>
          </p:nvSpPr>
          <p:spPr>
            <a:xfrm>
              <a:off x="0" y="0"/>
              <a:ext cx="2644579" cy="740534"/>
            </a:xfrm>
            <a:custGeom>
              <a:avLst/>
              <a:gdLst/>
              <a:ahLst/>
              <a:cxnLst/>
              <a:rect l="l" t="t" r="r" b="b"/>
              <a:pathLst>
                <a:path w="2644579" h="740534">
                  <a:moveTo>
                    <a:pt x="0" y="0"/>
                  </a:moveTo>
                  <a:lnTo>
                    <a:pt x="2644579" y="0"/>
                  </a:lnTo>
                  <a:lnTo>
                    <a:pt x="2644579" y="740534"/>
                  </a:lnTo>
                  <a:lnTo>
                    <a:pt x="0" y="740534"/>
                  </a:lnTo>
                  <a:close/>
                </a:path>
              </a:pathLst>
            </a:custGeom>
            <a:solidFill>
              <a:srgbClr val="FFFFFF"/>
            </a:solidFill>
          </p:spPr>
        </p:sp>
        <p:sp>
          <p:nvSpPr>
            <p:cNvPr id="5" name="TextBox 5"/>
            <p:cNvSpPr txBox="1"/>
            <p:nvPr/>
          </p:nvSpPr>
          <p:spPr>
            <a:xfrm>
              <a:off x="0" y="-47625"/>
              <a:ext cx="2644579" cy="788159"/>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0" y="4080308"/>
            <a:ext cx="9230699" cy="2231158"/>
          </a:xfrm>
          <a:prstGeom prst="rect">
            <a:avLst/>
          </a:prstGeom>
        </p:spPr>
        <p:txBody>
          <a:bodyPr lIns="0" tIns="0" rIns="0" bIns="0" rtlCol="0" anchor="t">
            <a:spAutoFit/>
          </a:bodyPr>
          <a:lstStyle/>
          <a:p>
            <a:pPr algn="ctr">
              <a:lnSpc>
                <a:spcPts val="8655"/>
              </a:lnSpc>
            </a:pPr>
            <a:r>
              <a:rPr lang="en-US" sz="8165" spc="816">
                <a:solidFill>
                  <a:srgbClr val="FFFFFF"/>
                </a:solidFill>
                <a:latin typeface="League Spartan"/>
                <a:ea typeface="League Spartan"/>
                <a:cs typeface="League Spartan"/>
                <a:sym typeface="League Spartan"/>
              </a:rPr>
              <a:t>STRATEGIC GOALS</a:t>
            </a:r>
          </a:p>
        </p:txBody>
      </p:sp>
      <p:grpSp>
        <p:nvGrpSpPr>
          <p:cNvPr id="7" name="Group 7"/>
          <p:cNvGrpSpPr/>
          <p:nvPr/>
        </p:nvGrpSpPr>
        <p:grpSpPr>
          <a:xfrm>
            <a:off x="8549770" y="4112980"/>
            <a:ext cx="8709530" cy="2438839"/>
            <a:chOff x="0" y="0"/>
            <a:chExt cx="2644579" cy="740534"/>
          </a:xfrm>
        </p:grpSpPr>
        <p:sp>
          <p:nvSpPr>
            <p:cNvPr id="8" name="Freeform 8"/>
            <p:cNvSpPr/>
            <p:nvPr/>
          </p:nvSpPr>
          <p:spPr>
            <a:xfrm>
              <a:off x="0" y="0"/>
              <a:ext cx="2644579" cy="740534"/>
            </a:xfrm>
            <a:custGeom>
              <a:avLst/>
              <a:gdLst/>
              <a:ahLst/>
              <a:cxnLst/>
              <a:rect l="l" t="t" r="r" b="b"/>
              <a:pathLst>
                <a:path w="2644579" h="740534">
                  <a:moveTo>
                    <a:pt x="0" y="0"/>
                  </a:moveTo>
                  <a:lnTo>
                    <a:pt x="2644579" y="0"/>
                  </a:lnTo>
                  <a:lnTo>
                    <a:pt x="2644579" y="740534"/>
                  </a:lnTo>
                  <a:lnTo>
                    <a:pt x="0" y="740534"/>
                  </a:lnTo>
                  <a:close/>
                </a:path>
              </a:pathLst>
            </a:custGeom>
            <a:solidFill>
              <a:srgbClr val="FFFFFF"/>
            </a:solidFill>
          </p:spPr>
        </p:sp>
        <p:sp>
          <p:nvSpPr>
            <p:cNvPr id="9" name="TextBox 9"/>
            <p:cNvSpPr txBox="1"/>
            <p:nvPr/>
          </p:nvSpPr>
          <p:spPr>
            <a:xfrm>
              <a:off x="0" y="-47625"/>
              <a:ext cx="2644579" cy="788159"/>
            </a:xfrm>
            <a:prstGeom prst="rect">
              <a:avLst/>
            </a:prstGeom>
          </p:spPr>
          <p:txBody>
            <a:bodyPr lIns="50800" tIns="50800" rIns="50800" bIns="50800" rtlCol="0" anchor="ctr"/>
            <a:lstStyle/>
            <a:p>
              <a:pPr algn="l">
                <a:lnSpc>
                  <a:spcPts val="1820"/>
                </a:lnSpc>
              </a:pPr>
              <a:endParaRPr/>
            </a:p>
            <a:p>
              <a:pPr algn="ctr">
                <a:lnSpc>
                  <a:spcPts val="2659"/>
                </a:lnSpc>
              </a:pPr>
              <a:endParaRPr/>
            </a:p>
          </p:txBody>
        </p:sp>
      </p:grpSp>
      <p:grpSp>
        <p:nvGrpSpPr>
          <p:cNvPr id="10" name="Group 10"/>
          <p:cNvGrpSpPr/>
          <p:nvPr/>
        </p:nvGrpSpPr>
        <p:grpSpPr>
          <a:xfrm>
            <a:off x="8549770" y="7197260"/>
            <a:ext cx="8709530" cy="2438839"/>
            <a:chOff x="0" y="0"/>
            <a:chExt cx="2644579" cy="740534"/>
          </a:xfrm>
        </p:grpSpPr>
        <p:sp>
          <p:nvSpPr>
            <p:cNvPr id="11" name="Freeform 11"/>
            <p:cNvSpPr/>
            <p:nvPr/>
          </p:nvSpPr>
          <p:spPr>
            <a:xfrm>
              <a:off x="0" y="0"/>
              <a:ext cx="2644579" cy="740534"/>
            </a:xfrm>
            <a:custGeom>
              <a:avLst/>
              <a:gdLst/>
              <a:ahLst/>
              <a:cxnLst/>
              <a:rect l="l" t="t" r="r" b="b"/>
              <a:pathLst>
                <a:path w="2644579" h="740534">
                  <a:moveTo>
                    <a:pt x="0" y="0"/>
                  </a:moveTo>
                  <a:lnTo>
                    <a:pt x="2644579" y="0"/>
                  </a:lnTo>
                  <a:lnTo>
                    <a:pt x="2644579" y="740534"/>
                  </a:lnTo>
                  <a:lnTo>
                    <a:pt x="0" y="740534"/>
                  </a:lnTo>
                  <a:close/>
                </a:path>
              </a:pathLst>
            </a:custGeom>
            <a:solidFill>
              <a:srgbClr val="FFFFFF"/>
            </a:solidFill>
          </p:spPr>
        </p:sp>
        <p:sp>
          <p:nvSpPr>
            <p:cNvPr id="12" name="TextBox 12"/>
            <p:cNvSpPr txBox="1"/>
            <p:nvPr/>
          </p:nvSpPr>
          <p:spPr>
            <a:xfrm>
              <a:off x="0" y="-47625"/>
              <a:ext cx="2644579" cy="78815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8278025" y="516170"/>
            <a:ext cx="1731950" cy="173195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4A8D"/>
            </a:soli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8278025" y="3600450"/>
            <a:ext cx="1731950" cy="173195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4A8D"/>
            </a:soli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8278025" y="6684730"/>
            <a:ext cx="1731950" cy="173195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94A8D"/>
            </a:soli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8278025" y="1145252"/>
            <a:ext cx="1679599" cy="740698"/>
          </a:xfrm>
          <a:prstGeom prst="rect">
            <a:avLst/>
          </a:prstGeom>
        </p:spPr>
        <p:txBody>
          <a:bodyPr lIns="0" tIns="0" rIns="0" bIns="0" rtlCol="0" anchor="t">
            <a:spAutoFit/>
          </a:bodyPr>
          <a:lstStyle/>
          <a:p>
            <a:pPr algn="ctr">
              <a:lnSpc>
                <a:spcPts val="5633"/>
              </a:lnSpc>
            </a:pPr>
            <a:r>
              <a:rPr lang="en-US" sz="5314" spc="531">
                <a:solidFill>
                  <a:srgbClr val="FFFFFF"/>
                </a:solidFill>
                <a:latin typeface="League Spartan"/>
                <a:ea typeface="League Spartan"/>
                <a:cs typeface="League Spartan"/>
                <a:sym typeface="League Spartan"/>
              </a:rPr>
              <a:t>01</a:t>
            </a:r>
          </a:p>
        </p:txBody>
      </p:sp>
      <p:sp>
        <p:nvSpPr>
          <p:cNvPr id="23" name="TextBox 23"/>
          <p:cNvSpPr txBox="1"/>
          <p:nvPr/>
        </p:nvSpPr>
        <p:spPr>
          <a:xfrm>
            <a:off x="8304200" y="4217755"/>
            <a:ext cx="1679599" cy="740698"/>
          </a:xfrm>
          <a:prstGeom prst="rect">
            <a:avLst/>
          </a:prstGeom>
        </p:spPr>
        <p:txBody>
          <a:bodyPr lIns="0" tIns="0" rIns="0" bIns="0" rtlCol="0" anchor="t">
            <a:spAutoFit/>
          </a:bodyPr>
          <a:lstStyle/>
          <a:p>
            <a:pPr algn="ctr">
              <a:lnSpc>
                <a:spcPts val="5633"/>
              </a:lnSpc>
            </a:pPr>
            <a:r>
              <a:rPr lang="en-US" sz="5314" spc="531">
                <a:solidFill>
                  <a:srgbClr val="FFFFFF"/>
                </a:solidFill>
                <a:latin typeface="League Spartan"/>
                <a:ea typeface="League Spartan"/>
                <a:cs typeface="League Spartan"/>
                <a:sym typeface="League Spartan"/>
              </a:rPr>
              <a:t>02</a:t>
            </a:r>
          </a:p>
        </p:txBody>
      </p:sp>
      <p:sp>
        <p:nvSpPr>
          <p:cNvPr id="24" name="TextBox 24"/>
          <p:cNvSpPr txBox="1"/>
          <p:nvPr/>
        </p:nvSpPr>
        <p:spPr>
          <a:xfrm>
            <a:off x="8278025" y="7332869"/>
            <a:ext cx="1679599" cy="740698"/>
          </a:xfrm>
          <a:prstGeom prst="rect">
            <a:avLst/>
          </a:prstGeom>
        </p:spPr>
        <p:txBody>
          <a:bodyPr lIns="0" tIns="0" rIns="0" bIns="0" rtlCol="0" anchor="t">
            <a:spAutoFit/>
          </a:bodyPr>
          <a:lstStyle/>
          <a:p>
            <a:pPr algn="ctr">
              <a:lnSpc>
                <a:spcPts val="5633"/>
              </a:lnSpc>
            </a:pPr>
            <a:r>
              <a:rPr lang="en-US" sz="5314" spc="531">
                <a:solidFill>
                  <a:srgbClr val="FFFFFF"/>
                </a:solidFill>
                <a:latin typeface="League Spartan"/>
                <a:ea typeface="League Spartan"/>
                <a:cs typeface="League Spartan"/>
                <a:sym typeface="League Spartan"/>
              </a:rPr>
              <a:t>03</a:t>
            </a:r>
          </a:p>
        </p:txBody>
      </p:sp>
      <p:sp>
        <p:nvSpPr>
          <p:cNvPr id="25" name="TextBox 25"/>
          <p:cNvSpPr txBox="1"/>
          <p:nvPr/>
        </p:nvSpPr>
        <p:spPr>
          <a:xfrm>
            <a:off x="10377415" y="1344045"/>
            <a:ext cx="6328852" cy="1409318"/>
          </a:xfrm>
          <a:prstGeom prst="rect">
            <a:avLst/>
          </a:prstGeom>
        </p:spPr>
        <p:txBody>
          <a:bodyPr lIns="0" tIns="0" rIns="0" bIns="0" rtlCol="0" anchor="t">
            <a:spAutoFit/>
          </a:bodyPr>
          <a:lstStyle/>
          <a:p>
            <a:pPr algn="l">
              <a:lnSpc>
                <a:spcPts val="1863"/>
              </a:lnSpc>
              <a:spcBef>
                <a:spcPct val="0"/>
              </a:spcBef>
            </a:pPr>
            <a:r>
              <a:rPr lang="en-US" sz="1331">
                <a:solidFill>
                  <a:srgbClr val="000000"/>
                </a:solidFill>
                <a:latin typeface="Arimo"/>
                <a:ea typeface="Arimo"/>
                <a:cs typeface="Arimo"/>
                <a:sym typeface="Arimo"/>
              </a:rPr>
              <a:t>Data Cleaning and Integrity Checks</a:t>
            </a:r>
          </a:p>
          <a:p>
            <a:pPr algn="l">
              <a:lnSpc>
                <a:spcPts val="1863"/>
              </a:lnSpc>
              <a:spcBef>
                <a:spcPct val="0"/>
              </a:spcBef>
            </a:pPr>
            <a:r>
              <a:rPr lang="en-US" sz="1331">
                <a:solidFill>
                  <a:srgbClr val="000000"/>
                </a:solidFill>
                <a:latin typeface="Arimo"/>
                <a:ea typeface="Arimo"/>
                <a:cs typeface="Arimo"/>
                <a:sym typeface="Arimo"/>
              </a:rPr>
              <a:t>Ensured the accuracy of the dataset by performing thorough cleaning procedures.</a:t>
            </a:r>
          </a:p>
          <a:p>
            <a:pPr algn="l">
              <a:lnSpc>
                <a:spcPts val="1863"/>
              </a:lnSpc>
              <a:spcBef>
                <a:spcPct val="0"/>
              </a:spcBef>
            </a:pPr>
            <a:r>
              <a:rPr lang="en-US" sz="1331">
                <a:solidFill>
                  <a:srgbClr val="000000"/>
                </a:solidFill>
                <a:latin typeface="Arimo"/>
                <a:ea typeface="Arimo"/>
                <a:cs typeface="Arimo"/>
                <a:sym typeface="Arimo"/>
              </a:rPr>
              <a:t>Identified and removed inconsistencies, such as negative values in the Unit Price and Quantity columns, which could lead to incorrect analysis.</a:t>
            </a:r>
          </a:p>
          <a:p>
            <a:pPr algn="l">
              <a:lnSpc>
                <a:spcPts val="1863"/>
              </a:lnSpc>
              <a:spcBef>
                <a:spcPct val="0"/>
              </a:spcBef>
            </a:pPr>
            <a:r>
              <a:rPr lang="en-US" sz="1331">
                <a:solidFill>
                  <a:srgbClr val="000000"/>
                </a:solidFill>
                <a:latin typeface="Arimo"/>
                <a:ea typeface="Arimo"/>
                <a:cs typeface="Arimo"/>
                <a:sym typeface="Arimo"/>
              </a:rPr>
              <a:t>Verified that all essential fields contained valid data, avoi</a:t>
            </a:r>
            <a:r>
              <a:rPr lang="en-US" sz="1331">
                <a:solidFill>
                  <a:srgbClr val="FFFFFF"/>
                </a:solidFill>
                <a:latin typeface="Arimo"/>
                <a:ea typeface="Arimo"/>
                <a:cs typeface="Arimo"/>
                <a:sym typeface="Arimo"/>
              </a:rPr>
              <a:t>ding missing or erroneous entries.</a:t>
            </a:r>
          </a:p>
        </p:txBody>
      </p:sp>
      <p:sp>
        <p:nvSpPr>
          <p:cNvPr id="26" name="TextBox 26"/>
          <p:cNvSpPr txBox="1"/>
          <p:nvPr/>
        </p:nvSpPr>
        <p:spPr>
          <a:xfrm>
            <a:off x="10377415" y="4516666"/>
            <a:ext cx="6483873" cy="1290426"/>
          </a:xfrm>
          <a:prstGeom prst="rect">
            <a:avLst/>
          </a:prstGeom>
        </p:spPr>
        <p:txBody>
          <a:bodyPr lIns="0" tIns="0" rIns="0" bIns="0" rtlCol="0" anchor="t">
            <a:spAutoFit/>
          </a:bodyPr>
          <a:lstStyle/>
          <a:p>
            <a:pPr algn="l">
              <a:lnSpc>
                <a:spcPts val="1861"/>
              </a:lnSpc>
            </a:pPr>
            <a:r>
              <a:rPr lang="en-US" sz="1329">
                <a:solidFill>
                  <a:srgbClr val="000000"/>
                </a:solidFill>
                <a:latin typeface="Arimo"/>
                <a:ea typeface="Arimo"/>
                <a:cs typeface="Arimo"/>
                <a:sym typeface="Arimo"/>
              </a:rPr>
              <a:t>Data Filtering for Analysis</a:t>
            </a:r>
          </a:p>
          <a:p>
            <a:pPr marL="287146" lvl="1" indent="-143573" algn="l">
              <a:lnSpc>
                <a:spcPts val="1861"/>
              </a:lnSpc>
              <a:buFont typeface="Arial"/>
              <a:buChar char="•"/>
            </a:pPr>
            <a:r>
              <a:rPr lang="en-US" sz="1329">
                <a:solidFill>
                  <a:srgbClr val="000000"/>
                </a:solidFill>
                <a:latin typeface="Arimo"/>
                <a:ea typeface="Arimo"/>
                <a:cs typeface="Arimo"/>
                <a:sym typeface="Arimo"/>
              </a:rPr>
              <a:t>Applied necessary filters to refine the dataset according to the required parameters for analysis.</a:t>
            </a:r>
          </a:p>
          <a:p>
            <a:pPr marL="287146" lvl="1" indent="-143573" algn="l">
              <a:lnSpc>
                <a:spcPts val="1861"/>
              </a:lnSpc>
              <a:buFont typeface="Arial"/>
              <a:buChar char="•"/>
            </a:pPr>
            <a:r>
              <a:rPr lang="en-US" sz="1329">
                <a:solidFill>
                  <a:srgbClr val="000000"/>
                </a:solidFill>
                <a:latin typeface="Arimo"/>
                <a:ea typeface="Arimo"/>
                <a:cs typeface="Arimo"/>
                <a:sym typeface="Arimo"/>
              </a:rPr>
              <a:t>Removed any irrelevant or duplicate records that could skew the results.</a:t>
            </a:r>
          </a:p>
          <a:p>
            <a:pPr marL="287146" lvl="1" indent="-143573" algn="l">
              <a:lnSpc>
                <a:spcPts val="1861"/>
              </a:lnSpc>
              <a:buFont typeface="Arial"/>
              <a:buChar char="•"/>
            </a:pPr>
            <a:r>
              <a:rPr lang="en-US" sz="1329">
                <a:solidFill>
                  <a:srgbClr val="000000"/>
                </a:solidFill>
                <a:latin typeface="Arimo"/>
                <a:ea typeface="Arimo"/>
                <a:cs typeface="Arimo"/>
                <a:sym typeface="Arimo"/>
              </a:rPr>
              <a:t>Ensured that only meaningful and relevant data was included in the visualizations.</a:t>
            </a:r>
          </a:p>
          <a:p>
            <a:pPr algn="l">
              <a:lnSpc>
                <a:spcPts val="1084"/>
              </a:lnSpc>
              <a:spcBef>
                <a:spcPct val="0"/>
              </a:spcBef>
            </a:pPr>
            <a:endParaRPr lang="en-US" sz="1329">
              <a:solidFill>
                <a:srgbClr val="000000"/>
              </a:solidFill>
              <a:latin typeface="Arimo"/>
              <a:ea typeface="Arimo"/>
              <a:cs typeface="Arimo"/>
              <a:sym typeface="Arimo"/>
            </a:endParaRPr>
          </a:p>
        </p:txBody>
      </p:sp>
      <p:sp>
        <p:nvSpPr>
          <p:cNvPr id="27" name="TextBox 27"/>
          <p:cNvSpPr txBox="1"/>
          <p:nvPr/>
        </p:nvSpPr>
        <p:spPr>
          <a:xfrm>
            <a:off x="10377415" y="7631780"/>
            <a:ext cx="6634275" cy="1604361"/>
          </a:xfrm>
          <a:prstGeom prst="rect">
            <a:avLst/>
          </a:prstGeom>
        </p:spPr>
        <p:txBody>
          <a:bodyPr lIns="0" tIns="0" rIns="0" bIns="0" rtlCol="0" anchor="t">
            <a:spAutoFit/>
          </a:bodyPr>
          <a:lstStyle/>
          <a:p>
            <a:pPr algn="l">
              <a:lnSpc>
                <a:spcPts val="1861"/>
              </a:lnSpc>
            </a:pPr>
            <a:r>
              <a:rPr lang="en-US" sz="1329">
                <a:solidFill>
                  <a:srgbClr val="000000"/>
                </a:solidFill>
                <a:latin typeface="Arimo"/>
                <a:ea typeface="Arimo"/>
                <a:cs typeface="Arimo"/>
                <a:sym typeface="Arimo"/>
              </a:rPr>
              <a:t>Preparation for Visualizations and Insights</a:t>
            </a:r>
          </a:p>
          <a:p>
            <a:pPr marL="287146" lvl="1" indent="-143573" algn="l">
              <a:lnSpc>
                <a:spcPts val="1861"/>
              </a:lnSpc>
              <a:buFont typeface="Arial"/>
              <a:buChar char="•"/>
            </a:pPr>
            <a:r>
              <a:rPr lang="en-US" sz="1329">
                <a:solidFill>
                  <a:srgbClr val="000000"/>
                </a:solidFill>
                <a:latin typeface="Arimo"/>
                <a:ea typeface="Arimo"/>
                <a:cs typeface="Arimo"/>
                <a:sym typeface="Arimo"/>
              </a:rPr>
              <a:t>Structured the cleaned dataset to be compatible with the required visualization tools.</a:t>
            </a:r>
          </a:p>
          <a:p>
            <a:pPr marL="287146" lvl="1" indent="-143573" algn="l">
              <a:lnSpc>
                <a:spcPts val="1861"/>
              </a:lnSpc>
              <a:buFont typeface="Arial"/>
              <a:buChar char="•"/>
            </a:pPr>
            <a:r>
              <a:rPr lang="en-US" sz="1329">
                <a:solidFill>
                  <a:srgbClr val="000000"/>
                </a:solidFill>
                <a:latin typeface="Arimo"/>
                <a:ea typeface="Arimo"/>
                <a:cs typeface="Arimo"/>
                <a:sym typeface="Arimo"/>
              </a:rPr>
              <a:t>Optimized the data by categorizing, aggregating, and summarizing key metrics for clear insights.</a:t>
            </a:r>
          </a:p>
          <a:p>
            <a:pPr marL="287146" lvl="1" indent="-143573" algn="l">
              <a:lnSpc>
                <a:spcPts val="1861"/>
              </a:lnSpc>
              <a:buFont typeface="Arial"/>
              <a:buChar char="•"/>
            </a:pPr>
            <a:r>
              <a:rPr lang="en-US" sz="1329">
                <a:solidFill>
                  <a:srgbClr val="000000"/>
                </a:solidFill>
                <a:latin typeface="Arimo"/>
                <a:ea typeface="Arimo"/>
                <a:cs typeface="Arimo"/>
                <a:sym typeface="Arimo"/>
              </a:rPr>
              <a:t>Validated the final dataset to ensure consistency, accuracy, and reliability of the presented visualizations.</a:t>
            </a:r>
          </a:p>
          <a:p>
            <a:pPr algn="l">
              <a:lnSpc>
                <a:spcPts val="1861"/>
              </a:lnSpc>
              <a:spcBef>
                <a:spcPct val="0"/>
              </a:spcBef>
            </a:pPr>
            <a:endParaRPr lang="en-US" sz="1329">
              <a:solidFill>
                <a:srgbClr val="000000"/>
              </a:solidFill>
              <a:latin typeface="Arimo"/>
              <a:ea typeface="Arimo"/>
              <a:cs typeface="Arimo"/>
              <a:sym typeface="Arim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8633839"/>
            <a:ext cx="18288000" cy="5288583"/>
            <a:chOff x="0" y="0"/>
            <a:chExt cx="2833290" cy="819340"/>
          </a:xfrm>
        </p:grpSpPr>
        <p:sp>
          <p:nvSpPr>
            <p:cNvPr id="3" name="Freeform 3"/>
            <p:cNvSpPr/>
            <p:nvPr/>
          </p:nvSpPr>
          <p:spPr>
            <a:xfrm>
              <a:off x="0" y="0"/>
              <a:ext cx="2833290" cy="819340"/>
            </a:xfrm>
            <a:custGeom>
              <a:avLst/>
              <a:gdLst/>
              <a:ahLst/>
              <a:cxnLst/>
              <a:rect l="l" t="t" r="r" b="b"/>
              <a:pathLst>
                <a:path w="2833290" h="819340">
                  <a:moveTo>
                    <a:pt x="0" y="0"/>
                  </a:moveTo>
                  <a:lnTo>
                    <a:pt x="2833290" y="0"/>
                  </a:lnTo>
                  <a:lnTo>
                    <a:pt x="2833290" y="819340"/>
                  </a:lnTo>
                  <a:lnTo>
                    <a:pt x="0" y="819340"/>
                  </a:lnTo>
                  <a:close/>
                </a:path>
              </a:pathLst>
            </a:custGeom>
            <a:blipFill>
              <a:blip r:embed="rId2"/>
              <a:stretch>
                <a:fillRect t="-124703" b="-5687"/>
              </a:stretch>
            </a:blipFill>
          </p:spPr>
        </p:sp>
      </p:grpSp>
      <p:sp>
        <p:nvSpPr>
          <p:cNvPr id="4" name="Freeform 4"/>
          <p:cNvSpPr/>
          <p:nvPr/>
        </p:nvSpPr>
        <p:spPr>
          <a:xfrm rot="-5400000" flipV="1">
            <a:off x="15177010" y="-1253949"/>
            <a:ext cx="2720897" cy="5228794"/>
          </a:xfrm>
          <a:custGeom>
            <a:avLst/>
            <a:gdLst/>
            <a:ahLst/>
            <a:cxnLst/>
            <a:rect l="l" t="t" r="r" b="b"/>
            <a:pathLst>
              <a:path w="2720897" h="5228794">
                <a:moveTo>
                  <a:pt x="0" y="5228795"/>
                </a:moveTo>
                <a:lnTo>
                  <a:pt x="2720897" y="5228795"/>
                </a:lnTo>
                <a:lnTo>
                  <a:pt x="2720897" y="0"/>
                </a:lnTo>
                <a:lnTo>
                  <a:pt x="0" y="0"/>
                </a:lnTo>
                <a:lnTo>
                  <a:pt x="0" y="5228795"/>
                </a:lnTo>
                <a:close/>
              </a:path>
            </a:pathLst>
          </a:custGeom>
          <a:blipFill>
            <a:blip r:embed="rId3"/>
            <a:stretch>
              <a:fillRect/>
            </a:stretch>
          </a:blipFill>
        </p:spPr>
      </p:sp>
      <p:sp>
        <p:nvSpPr>
          <p:cNvPr id="5" name="TextBox 5"/>
          <p:cNvSpPr txBox="1"/>
          <p:nvPr/>
        </p:nvSpPr>
        <p:spPr>
          <a:xfrm>
            <a:off x="1429683" y="502817"/>
            <a:ext cx="14786917" cy="525883"/>
          </a:xfrm>
          <a:prstGeom prst="rect">
            <a:avLst/>
          </a:prstGeom>
        </p:spPr>
        <p:txBody>
          <a:bodyPr lIns="0" tIns="0" rIns="0" bIns="0" rtlCol="0" anchor="t">
            <a:spAutoFit/>
          </a:bodyPr>
          <a:lstStyle/>
          <a:p>
            <a:pPr algn="ctr">
              <a:lnSpc>
                <a:spcPts val="4097"/>
              </a:lnSpc>
            </a:pPr>
            <a:r>
              <a:rPr lang="en-US" sz="3865" spc="386">
                <a:solidFill>
                  <a:srgbClr val="FFFFFF"/>
                </a:solidFill>
                <a:latin typeface="League Spartan"/>
                <a:ea typeface="League Spartan"/>
                <a:cs typeface="League Spartan"/>
                <a:sym typeface="League Spartan"/>
              </a:rPr>
              <a:t>REVENUE BY MONTH,2011</a:t>
            </a:r>
          </a:p>
        </p:txBody>
      </p:sp>
      <p:sp>
        <p:nvSpPr>
          <p:cNvPr id="6" name="Freeform 6"/>
          <p:cNvSpPr/>
          <p:nvPr/>
        </p:nvSpPr>
        <p:spPr>
          <a:xfrm rot="-5400000">
            <a:off x="390093" y="-1471468"/>
            <a:ext cx="2720897" cy="5228794"/>
          </a:xfrm>
          <a:custGeom>
            <a:avLst/>
            <a:gdLst/>
            <a:ahLst/>
            <a:cxnLst/>
            <a:rect l="l" t="t" r="r" b="b"/>
            <a:pathLst>
              <a:path w="2720897" h="5228794">
                <a:moveTo>
                  <a:pt x="0" y="0"/>
                </a:moveTo>
                <a:lnTo>
                  <a:pt x="2720897" y="0"/>
                </a:lnTo>
                <a:lnTo>
                  <a:pt x="2720897" y="5228794"/>
                </a:lnTo>
                <a:lnTo>
                  <a:pt x="0" y="5228794"/>
                </a:lnTo>
                <a:lnTo>
                  <a:pt x="0" y="0"/>
                </a:lnTo>
                <a:close/>
              </a:path>
            </a:pathLst>
          </a:custGeom>
          <a:blipFill>
            <a:blip r:embed="rId3"/>
            <a:stretch>
              <a:fillRect/>
            </a:stretch>
          </a:blipFill>
        </p:spPr>
      </p:sp>
      <p:sp>
        <p:nvSpPr>
          <p:cNvPr id="7" name="Freeform 7"/>
          <p:cNvSpPr/>
          <p:nvPr/>
        </p:nvSpPr>
        <p:spPr>
          <a:xfrm>
            <a:off x="2859769" y="1360448"/>
            <a:ext cx="12568463" cy="5149798"/>
          </a:xfrm>
          <a:custGeom>
            <a:avLst/>
            <a:gdLst/>
            <a:ahLst/>
            <a:cxnLst/>
            <a:rect l="l" t="t" r="r" b="b"/>
            <a:pathLst>
              <a:path w="12568463" h="5149798">
                <a:moveTo>
                  <a:pt x="0" y="0"/>
                </a:moveTo>
                <a:lnTo>
                  <a:pt x="12568462" y="0"/>
                </a:lnTo>
                <a:lnTo>
                  <a:pt x="12568462" y="5149798"/>
                </a:lnTo>
                <a:lnTo>
                  <a:pt x="0" y="5149798"/>
                </a:lnTo>
                <a:lnTo>
                  <a:pt x="0" y="0"/>
                </a:lnTo>
                <a:close/>
              </a:path>
            </a:pathLst>
          </a:custGeom>
          <a:blipFill>
            <a:blip r:embed="rId4"/>
            <a:stretch>
              <a:fillRect l="-741" r="-741"/>
            </a:stretch>
          </a:blipFill>
        </p:spPr>
      </p:sp>
      <p:sp>
        <p:nvSpPr>
          <p:cNvPr id="8" name="TextBox 8"/>
          <p:cNvSpPr txBox="1"/>
          <p:nvPr/>
        </p:nvSpPr>
        <p:spPr>
          <a:xfrm>
            <a:off x="2859769" y="7042107"/>
            <a:ext cx="12568463" cy="1203298"/>
          </a:xfrm>
          <a:prstGeom prst="rect">
            <a:avLst/>
          </a:prstGeom>
        </p:spPr>
        <p:txBody>
          <a:bodyPr lIns="0" tIns="0" rIns="0" bIns="0" rtlCol="0" anchor="t">
            <a:spAutoFit/>
          </a:bodyPr>
          <a:lstStyle/>
          <a:p>
            <a:pPr algn="l">
              <a:lnSpc>
                <a:spcPts val="2392"/>
              </a:lnSpc>
              <a:spcBef>
                <a:spcPct val="0"/>
              </a:spcBef>
            </a:pPr>
            <a:r>
              <a:rPr lang="en-US" sz="1708">
                <a:solidFill>
                  <a:srgbClr val="FFFFFF"/>
                </a:solidFill>
                <a:latin typeface="Arimo"/>
                <a:ea typeface="Arimo"/>
                <a:cs typeface="Arimo"/>
                <a:sym typeface="Arimo"/>
              </a:rPr>
              <a:t>•The first 8 months had stable monthly revenues with an average of $685,000</a:t>
            </a:r>
          </a:p>
          <a:p>
            <a:pPr algn="l">
              <a:lnSpc>
                <a:spcPts val="2392"/>
              </a:lnSpc>
              <a:spcBef>
                <a:spcPct val="0"/>
              </a:spcBef>
            </a:pPr>
            <a:r>
              <a:rPr lang="en-US" sz="1708">
                <a:solidFill>
                  <a:srgbClr val="FFFFFF"/>
                </a:solidFill>
                <a:latin typeface="Arimo"/>
                <a:ea typeface="Arimo"/>
                <a:cs typeface="Arimo"/>
                <a:sym typeface="Arimo"/>
              </a:rPr>
              <a:t>•We had a significant increase in revenue from September with the revenue peaking at $1.51 Million in November and an average of 21.18% increase in revenue from August to November.</a:t>
            </a:r>
          </a:p>
          <a:p>
            <a:pPr algn="l">
              <a:lnSpc>
                <a:spcPts val="2392"/>
              </a:lnSpc>
              <a:spcBef>
                <a:spcPct val="0"/>
              </a:spcBef>
            </a:pPr>
            <a:r>
              <a:rPr lang="en-US" sz="1708">
                <a:solidFill>
                  <a:srgbClr val="FFFFFF"/>
                </a:solidFill>
                <a:latin typeface="Arimo"/>
                <a:ea typeface="Arimo"/>
                <a:cs typeface="Arimo"/>
                <a:sym typeface="Arimo"/>
              </a:rPr>
              <a:t>•The revenue trend from August to December demonstrates how seasonality affects retail store sales.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8633839"/>
            <a:ext cx="18288000" cy="5288583"/>
            <a:chOff x="0" y="0"/>
            <a:chExt cx="2833290" cy="819340"/>
          </a:xfrm>
        </p:grpSpPr>
        <p:sp>
          <p:nvSpPr>
            <p:cNvPr id="3" name="Freeform 3"/>
            <p:cNvSpPr/>
            <p:nvPr/>
          </p:nvSpPr>
          <p:spPr>
            <a:xfrm>
              <a:off x="0" y="0"/>
              <a:ext cx="2833290" cy="819340"/>
            </a:xfrm>
            <a:custGeom>
              <a:avLst/>
              <a:gdLst/>
              <a:ahLst/>
              <a:cxnLst/>
              <a:rect l="l" t="t" r="r" b="b"/>
              <a:pathLst>
                <a:path w="2833290" h="819340">
                  <a:moveTo>
                    <a:pt x="0" y="0"/>
                  </a:moveTo>
                  <a:lnTo>
                    <a:pt x="2833290" y="0"/>
                  </a:lnTo>
                  <a:lnTo>
                    <a:pt x="2833290" y="819340"/>
                  </a:lnTo>
                  <a:lnTo>
                    <a:pt x="0" y="819340"/>
                  </a:lnTo>
                  <a:close/>
                </a:path>
              </a:pathLst>
            </a:custGeom>
            <a:blipFill>
              <a:blip r:embed="rId2"/>
              <a:stretch>
                <a:fillRect t="-124703" b="-5687"/>
              </a:stretch>
            </a:blipFill>
          </p:spPr>
        </p:sp>
      </p:grpSp>
      <p:sp>
        <p:nvSpPr>
          <p:cNvPr id="4" name="Freeform 4"/>
          <p:cNvSpPr/>
          <p:nvPr/>
        </p:nvSpPr>
        <p:spPr>
          <a:xfrm rot="-5400000" flipV="1">
            <a:off x="15177010" y="-1253949"/>
            <a:ext cx="2720897" cy="5228794"/>
          </a:xfrm>
          <a:custGeom>
            <a:avLst/>
            <a:gdLst/>
            <a:ahLst/>
            <a:cxnLst/>
            <a:rect l="l" t="t" r="r" b="b"/>
            <a:pathLst>
              <a:path w="2720897" h="5228794">
                <a:moveTo>
                  <a:pt x="0" y="5228795"/>
                </a:moveTo>
                <a:lnTo>
                  <a:pt x="2720897" y="5228795"/>
                </a:lnTo>
                <a:lnTo>
                  <a:pt x="2720897" y="0"/>
                </a:lnTo>
                <a:lnTo>
                  <a:pt x="0" y="0"/>
                </a:lnTo>
                <a:lnTo>
                  <a:pt x="0" y="5228795"/>
                </a:lnTo>
                <a:close/>
              </a:path>
            </a:pathLst>
          </a:custGeom>
          <a:blipFill>
            <a:blip r:embed="rId3"/>
            <a:stretch>
              <a:fillRect/>
            </a:stretch>
          </a:blipFill>
        </p:spPr>
      </p:sp>
      <p:sp>
        <p:nvSpPr>
          <p:cNvPr id="5" name="TextBox 5"/>
          <p:cNvSpPr txBox="1"/>
          <p:nvPr/>
        </p:nvSpPr>
        <p:spPr>
          <a:xfrm>
            <a:off x="1429683" y="536675"/>
            <a:ext cx="14786917" cy="448642"/>
          </a:xfrm>
          <a:prstGeom prst="rect">
            <a:avLst/>
          </a:prstGeom>
        </p:spPr>
        <p:txBody>
          <a:bodyPr lIns="0" tIns="0" rIns="0" bIns="0" rtlCol="0" anchor="t">
            <a:spAutoFit/>
          </a:bodyPr>
          <a:lstStyle/>
          <a:p>
            <a:pPr algn="ctr">
              <a:lnSpc>
                <a:spcPts val="3461"/>
              </a:lnSpc>
            </a:pPr>
            <a:r>
              <a:rPr lang="en-US" sz="3265" spc="326">
                <a:solidFill>
                  <a:srgbClr val="FFFFFF"/>
                </a:solidFill>
                <a:latin typeface="League Spartan"/>
                <a:ea typeface="League Spartan"/>
                <a:cs typeface="League Spartan"/>
                <a:sym typeface="League Spartan"/>
              </a:rPr>
              <a:t>TOP 10 COUNTRIES BY REVENUE AND QUANTITY</a:t>
            </a:r>
          </a:p>
        </p:txBody>
      </p:sp>
      <p:sp>
        <p:nvSpPr>
          <p:cNvPr id="6" name="Freeform 6"/>
          <p:cNvSpPr/>
          <p:nvPr/>
        </p:nvSpPr>
        <p:spPr>
          <a:xfrm rot="-5400000">
            <a:off x="390093" y="-1471468"/>
            <a:ext cx="2720897" cy="5228794"/>
          </a:xfrm>
          <a:custGeom>
            <a:avLst/>
            <a:gdLst/>
            <a:ahLst/>
            <a:cxnLst/>
            <a:rect l="l" t="t" r="r" b="b"/>
            <a:pathLst>
              <a:path w="2720897" h="5228794">
                <a:moveTo>
                  <a:pt x="0" y="0"/>
                </a:moveTo>
                <a:lnTo>
                  <a:pt x="2720897" y="0"/>
                </a:lnTo>
                <a:lnTo>
                  <a:pt x="2720897" y="5228794"/>
                </a:lnTo>
                <a:lnTo>
                  <a:pt x="0" y="5228794"/>
                </a:lnTo>
                <a:lnTo>
                  <a:pt x="0" y="0"/>
                </a:lnTo>
                <a:close/>
              </a:path>
            </a:pathLst>
          </a:custGeom>
          <a:blipFill>
            <a:blip r:embed="rId3"/>
            <a:stretch>
              <a:fillRect/>
            </a:stretch>
          </a:blipFill>
        </p:spPr>
      </p:sp>
      <p:sp>
        <p:nvSpPr>
          <p:cNvPr id="7" name="Freeform 7"/>
          <p:cNvSpPr/>
          <p:nvPr/>
        </p:nvSpPr>
        <p:spPr>
          <a:xfrm>
            <a:off x="2612855" y="1359995"/>
            <a:ext cx="13062291" cy="5339211"/>
          </a:xfrm>
          <a:custGeom>
            <a:avLst/>
            <a:gdLst/>
            <a:ahLst/>
            <a:cxnLst/>
            <a:rect l="l" t="t" r="r" b="b"/>
            <a:pathLst>
              <a:path w="13062291" h="5339211">
                <a:moveTo>
                  <a:pt x="0" y="0"/>
                </a:moveTo>
                <a:lnTo>
                  <a:pt x="13062290" y="0"/>
                </a:lnTo>
                <a:lnTo>
                  <a:pt x="13062290" y="5339212"/>
                </a:lnTo>
                <a:lnTo>
                  <a:pt x="0" y="5339212"/>
                </a:lnTo>
                <a:lnTo>
                  <a:pt x="0" y="0"/>
                </a:lnTo>
                <a:close/>
              </a:path>
            </a:pathLst>
          </a:custGeom>
          <a:blipFill>
            <a:blip r:embed="rId4"/>
            <a:stretch>
              <a:fillRect/>
            </a:stretch>
          </a:blipFill>
        </p:spPr>
      </p:sp>
      <p:sp>
        <p:nvSpPr>
          <p:cNvPr id="8" name="TextBox 8"/>
          <p:cNvSpPr txBox="1"/>
          <p:nvPr/>
        </p:nvSpPr>
        <p:spPr>
          <a:xfrm>
            <a:off x="2612855" y="6831003"/>
            <a:ext cx="13062291" cy="1802836"/>
          </a:xfrm>
          <a:prstGeom prst="rect">
            <a:avLst/>
          </a:prstGeom>
        </p:spPr>
        <p:txBody>
          <a:bodyPr lIns="0" tIns="0" rIns="0" bIns="0" rtlCol="0" anchor="t">
            <a:spAutoFit/>
          </a:bodyPr>
          <a:lstStyle/>
          <a:p>
            <a:pPr algn="l">
              <a:lnSpc>
                <a:spcPts val="2392"/>
              </a:lnSpc>
            </a:pPr>
            <a:r>
              <a:rPr lang="en-US" sz="1708">
                <a:solidFill>
                  <a:srgbClr val="FFFFFF"/>
                </a:solidFill>
                <a:latin typeface="Arimo"/>
                <a:ea typeface="Arimo"/>
                <a:cs typeface="Arimo"/>
                <a:sym typeface="Arimo"/>
              </a:rPr>
              <a:t>•This chart represents the top 10 countries in revenue and the quantities bought in these countries except The United Kingdom.</a:t>
            </a:r>
          </a:p>
          <a:p>
            <a:pPr algn="l">
              <a:lnSpc>
                <a:spcPts val="2392"/>
              </a:lnSpc>
            </a:pPr>
            <a:r>
              <a:rPr lang="en-US" sz="1708">
                <a:solidFill>
                  <a:srgbClr val="FFFFFF"/>
                </a:solidFill>
                <a:latin typeface="Arimo"/>
                <a:ea typeface="Arimo"/>
                <a:cs typeface="Arimo"/>
                <a:sym typeface="Arimo"/>
              </a:rPr>
              <a:t>•There is no major difference between the revenue and the quantity of goods sold in these countries, showing a high purchasing power in these countries.</a:t>
            </a:r>
          </a:p>
          <a:p>
            <a:pPr algn="l">
              <a:lnSpc>
                <a:spcPts val="2392"/>
              </a:lnSpc>
            </a:pPr>
            <a:r>
              <a:rPr lang="en-US" sz="1708">
                <a:solidFill>
                  <a:srgbClr val="FFFFFF"/>
                </a:solidFill>
                <a:latin typeface="Arimo"/>
                <a:ea typeface="Arimo"/>
                <a:cs typeface="Arimo"/>
                <a:sym typeface="Arimo"/>
              </a:rPr>
              <a:t>•These countries represent regions with the highest potential to generate more revenue that management needs to focus more on in terms of marketing strategies. </a:t>
            </a:r>
          </a:p>
          <a:p>
            <a:pPr algn="l">
              <a:lnSpc>
                <a:spcPts val="2392"/>
              </a:lnSpc>
              <a:spcBef>
                <a:spcPct val="0"/>
              </a:spcBef>
            </a:pPr>
            <a:endParaRPr lang="en-US" sz="1708">
              <a:solidFill>
                <a:srgbClr val="FFFFFF"/>
              </a:solidFill>
              <a:latin typeface="Arimo"/>
              <a:ea typeface="Arimo"/>
              <a:cs typeface="Arimo"/>
              <a:sym typeface="Arim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8633839"/>
            <a:ext cx="18288000" cy="5288583"/>
            <a:chOff x="0" y="0"/>
            <a:chExt cx="2833290" cy="819340"/>
          </a:xfrm>
        </p:grpSpPr>
        <p:sp>
          <p:nvSpPr>
            <p:cNvPr id="3" name="Freeform 3"/>
            <p:cNvSpPr/>
            <p:nvPr/>
          </p:nvSpPr>
          <p:spPr>
            <a:xfrm>
              <a:off x="0" y="0"/>
              <a:ext cx="2833290" cy="819340"/>
            </a:xfrm>
            <a:custGeom>
              <a:avLst/>
              <a:gdLst/>
              <a:ahLst/>
              <a:cxnLst/>
              <a:rect l="l" t="t" r="r" b="b"/>
              <a:pathLst>
                <a:path w="2833290" h="819340">
                  <a:moveTo>
                    <a:pt x="0" y="0"/>
                  </a:moveTo>
                  <a:lnTo>
                    <a:pt x="2833290" y="0"/>
                  </a:lnTo>
                  <a:lnTo>
                    <a:pt x="2833290" y="819340"/>
                  </a:lnTo>
                  <a:lnTo>
                    <a:pt x="0" y="819340"/>
                  </a:lnTo>
                  <a:close/>
                </a:path>
              </a:pathLst>
            </a:custGeom>
            <a:blipFill>
              <a:blip r:embed="rId2"/>
              <a:stretch>
                <a:fillRect t="-124703" b="-5687"/>
              </a:stretch>
            </a:blipFill>
          </p:spPr>
        </p:sp>
      </p:grpSp>
      <p:sp>
        <p:nvSpPr>
          <p:cNvPr id="4" name="Freeform 4"/>
          <p:cNvSpPr/>
          <p:nvPr/>
        </p:nvSpPr>
        <p:spPr>
          <a:xfrm rot="-5400000" flipV="1">
            <a:off x="15177010" y="-1253949"/>
            <a:ext cx="2720897" cy="5228794"/>
          </a:xfrm>
          <a:custGeom>
            <a:avLst/>
            <a:gdLst/>
            <a:ahLst/>
            <a:cxnLst/>
            <a:rect l="l" t="t" r="r" b="b"/>
            <a:pathLst>
              <a:path w="2720897" h="5228794">
                <a:moveTo>
                  <a:pt x="0" y="5228795"/>
                </a:moveTo>
                <a:lnTo>
                  <a:pt x="2720897" y="5228795"/>
                </a:lnTo>
                <a:lnTo>
                  <a:pt x="2720897" y="0"/>
                </a:lnTo>
                <a:lnTo>
                  <a:pt x="0" y="0"/>
                </a:lnTo>
                <a:lnTo>
                  <a:pt x="0" y="5228795"/>
                </a:lnTo>
                <a:close/>
              </a:path>
            </a:pathLst>
          </a:custGeom>
          <a:blipFill>
            <a:blip r:embed="rId3"/>
            <a:stretch>
              <a:fillRect/>
            </a:stretch>
          </a:blipFill>
        </p:spPr>
      </p:sp>
      <p:sp>
        <p:nvSpPr>
          <p:cNvPr id="5" name="TextBox 5"/>
          <p:cNvSpPr txBox="1"/>
          <p:nvPr/>
        </p:nvSpPr>
        <p:spPr>
          <a:xfrm>
            <a:off x="1429683" y="536675"/>
            <a:ext cx="14786917" cy="448642"/>
          </a:xfrm>
          <a:prstGeom prst="rect">
            <a:avLst/>
          </a:prstGeom>
        </p:spPr>
        <p:txBody>
          <a:bodyPr lIns="0" tIns="0" rIns="0" bIns="0" rtlCol="0" anchor="t">
            <a:spAutoFit/>
          </a:bodyPr>
          <a:lstStyle/>
          <a:p>
            <a:pPr algn="ctr">
              <a:lnSpc>
                <a:spcPts val="3461"/>
              </a:lnSpc>
            </a:pPr>
            <a:r>
              <a:rPr lang="en-US" sz="3265" spc="326">
                <a:solidFill>
                  <a:srgbClr val="FFFFFF"/>
                </a:solidFill>
                <a:latin typeface="League Spartan"/>
                <a:ea typeface="League Spartan"/>
                <a:cs typeface="League Spartan"/>
                <a:sym typeface="League Spartan"/>
              </a:rPr>
              <a:t>TOP 10 CUSTOMERS BY REVENUE</a:t>
            </a:r>
          </a:p>
        </p:txBody>
      </p:sp>
      <p:sp>
        <p:nvSpPr>
          <p:cNvPr id="6" name="Freeform 6"/>
          <p:cNvSpPr/>
          <p:nvPr/>
        </p:nvSpPr>
        <p:spPr>
          <a:xfrm rot="-5400000">
            <a:off x="390093" y="-1471468"/>
            <a:ext cx="2720897" cy="5228794"/>
          </a:xfrm>
          <a:custGeom>
            <a:avLst/>
            <a:gdLst/>
            <a:ahLst/>
            <a:cxnLst/>
            <a:rect l="l" t="t" r="r" b="b"/>
            <a:pathLst>
              <a:path w="2720897" h="5228794">
                <a:moveTo>
                  <a:pt x="0" y="0"/>
                </a:moveTo>
                <a:lnTo>
                  <a:pt x="2720897" y="0"/>
                </a:lnTo>
                <a:lnTo>
                  <a:pt x="2720897" y="5228794"/>
                </a:lnTo>
                <a:lnTo>
                  <a:pt x="0" y="5228794"/>
                </a:lnTo>
                <a:lnTo>
                  <a:pt x="0" y="0"/>
                </a:lnTo>
                <a:close/>
              </a:path>
            </a:pathLst>
          </a:custGeom>
          <a:blipFill>
            <a:blip r:embed="rId3"/>
            <a:stretch>
              <a:fillRect/>
            </a:stretch>
          </a:blipFill>
        </p:spPr>
      </p:sp>
      <p:sp>
        <p:nvSpPr>
          <p:cNvPr id="7" name="Freeform 7"/>
          <p:cNvSpPr/>
          <p:nvPr/>
        </p:nvSpPr>
        <p:spPr>
          <a:xfrm>
            <a:off x="2364655" y="1360448"/>
            <a:ext cx="13310490" cy="5407387"/>
          </a:xfrm>
          <a:custGeom>
            <a:avLst/>
            <a:gdLst/>
            <a:ahLst/>
            <a:cxnLst/>
            <a:rect l="l" t="t" r="r" b="b"/>
            <a:pathLst>
              <a:path w="13310490" h="5407387">
                <a:moveTo>
                  <a:pt x="0" y="0"/>
                </a:moveTo>
                <a:lnTo>
                  <a:pt x="13310490" y="0"/>
                </a:lnTo>
                <a:lnTo>
                  <a:pt x="13310490" y="5407387"/>
                </a:lnTo>
                <a:lnTo>
                  <a:pt x="0" y="5407387"/>
                </a:lnTo>
                <a:lnTo>
                  <a:pt x="0" y="0"/>
                </a:lnTo>
                <a:close/>
              </a:path>
            </a:pathLst>
          </a:custGeom>
          <a:blipFill>
            <a:blip r:embed="rId4"/>
            <a:stretch>
              <a:fillRect/>
            </a:stretch>
          </a:blipFill>
        </p:spPr>
      </p:sp>
      <p:sp>
        <p:nvSpPr>
          <p:cNvPr id="8" name="TextBox 8"/>
          <p:cNvSpPr txBox="1"/>
          <p:nvPr/>
        </p:nvSpPr>
        <p:spPr>
          <a:xfrm>
            <a:off x="2364655" y="6831003"/>
            <a:ext cx="13186391" cy="1802836"/>
          </a:xfrm>
          <a:prstGeom prst="rect">
            <a:avLst/>
          </a:prstGeom>
        </p:spPr>
        <p:txBody>
          <a:bodyPr lIns="0" tIns="0" rIns="0" bIns="0" rtlCol="0" anchor="t">
            <a:spAutoFit/>
          </a:bodyPr>
          <a:lstStyle/>
          <a:p>
            <a:pPr algn="l">
              <a:lnSpc>
                <a:spcPts val="2392"/>
              </a:lnSpc>
            </a:pPr>
            <a:r>
              <a:rPr lang="en-US" sz="1708">
                <a:solidFill>
                  <a:srgbClr val="FFFFFF"/>
                </a:solidFill>
                <a:latin typeface="Arimo"/>
                <a:ea typeface="Arimo"/>
                <a:cs typeface="Arimo"/>
                <a:sym typeface="Arimo"/>
              </a:rPr>
              <a:t>••The chart shows that there is no major difference between the top 10 customers in terms of revenue generated.</a:t>
            </a:r>
          </a:p>
          <a:p>
            <a:pPr algn="l">
              <a:lnSpc>
                <a:spcPts val="2392"/>
              </a:lnSpc>
            </a:pPr>
            <a:r>
              <a:rPr lang="en-US" sz="1708">
                <a:solidFill>
                  <a:srgbClr val="FFFFFF"/>
                </a:solidFill>
                <a:latin typeface="Arimo"/>
                <a:ea typeface="Arimo"/>
                <a:cs typeface="Arimo"/>
                <a:sym typeface="Arimo"/>
              </a:rPr>
              <a:t>•The average difference in revenue between the top 10 customers is 15.8%.</a:t>
            </a:r>
          </a:p>
          <a:p>
            <a:pPr algn="l">
              <a:lnSpc>
                <a:spcPts val="2392"/>
              </a:lnSpc>
            </a:pPr>
            <a:r>
              <a:rPr lang="en-US" sz="1708">
                <a:solidFill>
                  <a:srgbClr val="FFFFFF"/>
                </a:solidFill>
                <a:latin typeface="Arimo"/>
                <a:ea typeface="Arimo"/>
                <a:cs typeface="Arimo"/>
                <a:sym typeface="Arimo"/>
              </a:rPr>
              <a:t>•The company can aim to strengthen the relationship with these customers to increase customer loyalty and retention, and ultimately drive more sales and revenue for the company.</a:t>
            </a:r>
          </a:p>
          <a:p>
            <a:pPr algn="l">
              <a:lnSpc>
                <a:spcPts val="2392"/>
              </a:lnSpc>
            </a:pPr>
            <a:endParaRPr lang="en-US" sz="1708">
              <a:solidFill>
                <a:srgbClr val="FFFFFF"/>
              </a:solidFill>
              <a:latin typeface="Arimo"/>
              <a:ea typeface="Arimo"/>
              <a:cs typeface="Arimo"/>
              <a:sym typeface="Arimo"/>
            </a:endParaRPr>
          </a:p>
          <a:p>
            <a:pPr algn="l">
              <a:lnSpc>
                <a:spcPts val="2392"/>
              </a:lnSpc>
              <a:spcBef>
                <a:spcPct val="0"/>
              </a:spcBef>
            </a:pPr>
            <a:endParaRPr lang="en-US" sz="1708">
              <a:solidFill>
                <a:srgbClr val="FFFFFF"/>
              </a:solidFill>
              <a:latin typeface="Arimo"/>
              <a:ea typeface="Arimo"/>
              <a:cs typeface="Arimo"/>
              <a:sym typeface="Arim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8633839"/>
            <a:ext cx="18288000" cy="5288583"/>
            <a:chOff x="0" y="0"/>
            <a:chExt cx="2833290" cy="819340"/>
          </a:xfrm>
        </p:grpSpPr>
        <p:sp>
          <p:nvSpPr>
            <p:cNvPr id="3" name="Freeform 3"/>
            <p:cNvSpPr/>
            <p:nvPr/>
          </p:nvSpPr>
          <p:spPr>
            <a:xfrm>
              <a:off x="0" y="0"/>
              <a:ext cx="2833290" cy="819340"/>
            </a:xfrm>
            <a:custGeom>
              <a:avLst/>
              <a:gdLst/>
              <a:ahLst/>
              <a:cxnLst/>
              <a:rect l="l" t="t" r="r" b="b"/>
              <a:pathLst>
                <a:path w="2833290" h="819340">
                  <a:moveTo>
                    <a:pt x="0" y="0"/>
                  </a:moveTo>
                  <a:lnTo>
                    <a:pt x="2833290" y="0"/>
                  </a:lnTo>
                  <a:lnTo>
                    <a:pt x="2833290" y="819340"/>
                  </a:lnTo>
                  <a:lnTo>
                    <a:pt x="0" y="819340"/>
                  </a:lnTo>
                  <a:close/>
                </a:path>
              </a:pathLst>
            </a:custGeom>
            <a:blipFill>
              <a:blip r:embed="rId2"/>
              <a:stretch>
                <a:fillRect t="-124703" b="-5687"/>
              </a:stretch>
            </a:blipFill>
          </p:spPr>
        </p:sp>
      </p:grpSp>
      <p:sp>
        <p:nvSpPr>
          <p:cNvPr id="4" name="Freeform 4"/>
          <p:cNvSpPr/>
          <p:nvPr/>
        </p:nvSpPr>
        <p:spPr>
          <a:xfrm rot="-5400000" flipV="1">
            <a:off x="15177010" y="-1253949"/>
            <a:ext cx="2720897" cy="5228794"/>
          </a:xfrm>
          <a:custGeom>
            <a:avLst/>
            <a:gdLst/>
            <a:ahLst/>
            <a:cxnLst/>
            <a:rect l="l" t="t" r="r" b="b"/>
            <a:pathLst>
              <a:path w="2720897" h="5228794">
                <a:moveTo>
                  <a:pt x="0" y="5228795"/>
                </a:moveTo>
                <a:lnTo>
                  <a:pt x="2720897" y="5228795"/>
                </a:lnTo>
                <a:lnTo>
                  <a:pt x="2720897" y="0"/>
                </a:lnTo>
                <a:lnTo>
                  <a:pt x="0" y="0"/>
                </a:lnTo>
                <a:lnTo>
                  <a:pt x="0" y="5228795"/>
                </a:lnTo>
                <a:close/>
              </a:path>
            </a:pathLst>
          </a:custGeom>
          <a:blipFill>
            <a:blip r:embed="rId3"/>
            <a:stretch>
              <a:fillRect/>
            </a:stretch>
          </a:blipFill>
        </p:spPr>
      </p:sp>
      <p:sp>
        <p:nvSpPr>
          <p:cNvPr id="5" name="TextBox 5"/>
          <p:cNvSpPr txBox="1"/>
          <p:nvPr/>
        </p:nvSpPr>
        <p:spPr>
          <a:xfrm>
            <a:off x="1429683" y="609091"/>
            <a:ext cx="14786917" cy="886842"/>
          </a:xfrm>
          <a:prstGeom prst="rect">
            <a:avLst/>
          </a:prstGeom>
        </p:spPr>
        <p:txBody>
          <a:bodyPr lIns="0" tIns="0" rIns="0" bIns="0" rtlCol="0" anchor="t">
            <a:spAutoFit/>
          </a:bodyPr>
          <a:lstStyle/>
          <a:p>
            <a:pPr algn="ctr">
              <a:lnSpc>
                <a:spcPts val="3461"/>
              </a:lnSpc>
            </a:pPr>
            <a:r>
              <a:rPr lang="en-US" sz="3265" spc="326">
                <a:solidFill>
                  <a:srgbClr val="FFFFFF"/>
                </a:solidFill>
                <a:latin typeface="League Spartan"/>
                <a:ea typeface="League Spartan"/>
                <a:cs typeface="League Spartan"/>
                <a:sym typeface="League Spartan"/>
              </a:rPr>
              <a:t>REVENUE BY COUNTRY</a:t>
            </a:r>
          </a:p>
          <a:p>
            <a:pPr algn="ctr">
              <a:lnSpc>
                <a:spcPts val="3461"/>
              </a:lnSpc>
            </a:pPr>
            <a:endParaRPr lang="en-US" sz="3265" spc="326">
              <a:solidFill>
                <a:srgbClr val="FFFFFF"/>
              </a:solidFill>
              <a:latin typeface="League Spartan"/>
              <a:ea typeface="League Spartan"/>
              <a:cs typeface="League Spartan"/>
              <a:sym typeface="League Spartan"/>
            </a:endParaRPr>
          </a:p>
        </p:txBody>
      </p:sp>
      <p:sp>
        <p:nvSpPr>
          <p:cNvPr id="6" name="Freeform 6"/>
          <p:cNvSpPr/>
          <p:nvPr/>
        </p:nvSpPr>
        <p:spPr>
          <a:xfrm rot="-5400000">
            <a:off x="390093" y="-1471468"/>
            <a:ext cx="2720897" cy="5228794"/>
          </a:xfrm>
          <a:custGeom>
            <a:avLst/>
            <a:gdLst/>
            <a:ahLst/>
            <a:cxnLst/>
            <a:rect l="l" t="t" r="r" b="b"/>
            <a:pathLst>
              <a:path w="2720897" h="5228794">
                <a:moveTo>
                  <a:pt x="0" y="0"/>
                </a:moveTo>
                <a:lnTo>
                  <a:pt x="2720897" y="0"/>
                </a:lnTo>
                <a:lnTo>
                  <a:pt x="2720897" y="5228794"/>
                </a:lnTo>
                <a:lnTo>
                  <a:pt x="0" y="5228794"/>
                </a:lnTo>
                <a:lnTo>
                  <a:pt x="0" y="0"/>
                </a:lnTo>
                <a:close/>
              </a:path>
            </a:pathLst>
          </a:custGeom>
          <a:blipFill>
            <a:blip r:embed="rId3"/>
            <a:stretch>
              <a:fillRect/>
            </a:stretch>
          </a:blipFill>
        </p:spPr>
      </p:sp>
      <p:sp>
        <p:nvSpPr>
          <p:cNvPr id="7" name="Freeform 7"/>
          <p:cNvSpPr/>
          <p:nvPr/>
        </p:nvSpPr>
        <p:spPr>
          <a:xfrm>
            <a:off x="2612855" y="1360448"/>
            <a:ext cx="12534534" cy="5233168"/>
          </a:xfrm>
          <a:custGeom>
            <a:avLst/>
            <a:gdLst/>
            <a:ahLst/>
            <a:cxnLst/>
            <a:rect l="l" t="t" r="r" b="b"/>
            <a:pathLst>
              <a:path w="12534534" h="5233168">
                <a:moveTo>
                  <a:pt x="0" y="0"/>
                </a:moveTo>
                <a:lnTo>
                  <a:pt x="12534534" y="0"/>
                </a:lnTo>
                <a:lnTo>
                  <a:pt x="12534534" y="5233168"/>
                </a:lnTo>
                <a:lnTo>
                  <a:pt x="0" y="5233168"/>
                </a:lnTo>
                <a:lnTo>
                  <a:pt x="0" y="0"/>
                </a:lnTo>
                <a:close/>
              </a:path>
            </a:pathLst>
          </a:custGeom>
          <a:blipFill>
            <a:blip r:embed="rId4"/>
            <a:stretch>
              <a:fillRect/>
            </a:stretch>
          </a:blipFill>
        </p:spPr>
      </p:sp>
      <p:sp>
        <p:nvSpPr>
          <p:cNvPr id="8" name="TextBox 8"/>
          <p:cNvSpPr txBox="1"/>
          <p:nvPr/>
        </p:nvSpPr>
        <p:spPr>
          <a:xfrm>
            <a:off x="2612855" y="6831003"/>
            <a:ext cx="13062291" cy="1802836"/>
          </a:xfrm>
          <a:prstGeom prst="rect">
            <a:avLst/>
          </a:prstGeom>
        </p:spPr>
        <p:txBody>
          <a:bodyPr lIns="0" tIns="0" rIns="0" bIns="0" rtlCol="0" anchor="t">
            <a:spAutoFit/>
          </a:bodyPr>
          <a:lstStyle/>
          <a:p>
            <a:pPr algn="l">
              <a:lnSpc>
                <a:spcPts val="2392"/>
              </a:lnSpc>
            </a:pPr>
            <a:r>
              <a:rPr lang="en-US" sz="1708">
                <a:solidFill>
                  <a:srgbClr val="FFFFFF"/>
                </a:solidFill>
                <a:latin typeface="Arimo"/>
                <a:ea typeface="Arimo"/>
                <a:cs typeface="Arimo"/>
                <a:sym typeface="Arimo"/>
              </a:rPr>
              <a:t>•The map chart concludes by comparing the places that have produced the greatest revenue to those that have not.</a:t>
            </a:r>
          </a:p>
          <a:p>
            <a:pPr algn="l">
              <a:lnSpc>
                <a:spcPts val="2392"/>
              </a:lnSpc>
            </a:pPr>
            <a:r>
              <a:rPr lang="en-US" sz="1708">
                <a:solidFill>
                  <a:srgbClr val="FFFFFF"/>
                </a:solidFill>
                <a:latin typeface="Arimo"/>
                <a:ea typeface="Arimo"/>
                <a:cs typeface="Arimo"/>
                <a:sym typeface="Arimo"/>
              </a:rPr>
              <a:t>•The map also reveals that the majority of sales occur only in the European zone, with only a small number in the American region</a:t>
            </a:r>
          </a:p>
          <a:p>
            <a:pPr algn="l">
              <a:lnSpc>
                <a:spcPts val="2392"/>
              </a:lnSpc>
            </a:pPr>
            <a:r>
              <a:rPr lang="en-US" sz="1708">
                <a:solidFill>
                  <a:srgbClr val="FFFFFF"/>
                </a:solidFill>
                <a:latin typeface="Arimo"/>
                <a:ea typeface="Arimo"/>
                <a:cs typeface="Arimo"/>
                <a:sym typeface="Arimo"/>
              </a:rPr>
              <a:t>•Along with Russia, there is no market for the items in Africa or Asia.</a:t>
            </a:r>
          </a:p>
          <a:p>
            <a:pPr algn="l">
              <a:lnSpc>
                <a:spcPts val="2392"/>
              </a:lnSpc>
            </a:pPr>
            <a:r>
              <a:rPr lang="en-US" sz="1708">
                <a:solidFill>
                  <a:srgbClr val="FFFFFF"/>
                </a:solidFill>
                <a:latin typeface="Arimo"/>
                <a:ea typeface="Arimo"/>
                <a:cs typeface="Arimo"/>
                <a:sym typeface="Arimo"/>
              </a:rPr>
              <a:t>•The company can concentrate on the European market more and dive deeper into countries in the region to come up with strategies that will maximize sales from each country in the region alongside Australia and Japan.</a:t>
            </a:r>
          </a:p>
          <a:p>
            <a:pPr algn="l">
              <a:lnSpc>
                <a:spcPts val="2392"/>
              </a:lnSpc>
              <a:spcBef>
                <a:spcPct val="0"/>
              </a:spcBef>
            </a:pPr>
            <a:endParaRPr lang="en-US" sz="1708">
              <a:solidFill>
                <a:srgbClr val="FFFFFF"/>
              </a:solidFill>
              <a:latin typeface="Arimo"/>
              <a:ea typeface="Arimo"/>
              <a:cs typeface="Arimo"/>
              <a:sym typeface="Arim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499860" y="1317497"/>
            <a:ext cx="14786917" cy="875216"/>
          </a:xfrm>
          <a:prstGeom prst="rect">
            <a:avLst/>
          </a:prstGeom>
        </p:spPr>
        <p:txBody>
          <a:bodyPr lIns="0" tIns="0" rIns="0" bIns="0" rtlCol="0" anchor="t">
            <a:spAutoFit/>
          </a:bodyPr>
          <a:lstStyle/>
          <a:p>
            <a:pPr algn="ctr">
              <a:lnSpc>
                <a:spcPts val="6747"/>
              </a:lnSpc>
            </a:pPr>
            <a:r>
              <a:rPr lang="en-US" sz="6365" spc="636">
                <a:solidFill>
                  <a:srgbClr val="FFFFFF"/>
                </a:solidFill>
                <a:latin typeface="League Spartan"/>
                <a:ea typeface="League Spartan"/>
                <a:cs typeface="League Spartan"/>
                <a:sym typeface="League Spartan"/>
              </a:rPr>
              <a:t>RECOMMENDATION</a:t>
            </a:r>
          </a:p>
        </p:txBody>
      </p:sp>
      <p:sp>
        <p:nvSpPr>
          <p:cNvPr id="3" name="TextBox 3"/>
          <p:cNvSpPr txBox="1"/>
          <p:nvPr/>
        </p:nvSpPr>
        <p:spPr>
          <a:xfrm>
            <a:off x="2131640" y="2873671"/>
            <a:ext cx="14392072" cy="5230430"/>
          </a:xfrm>
          <a:prstGeom prst="rect">
            <a:avLst/>
          </a:prstGeom>
        </p:spPr>
        <p:txBody>
          <a:bodyPr lIns="0" tIns="0" rIns="0" bIns="0" rtlCol="0" anchor="t">
            <a:spAutoFit/>
          </a:bodyPr>
          <a:lstStyle/>
          <a:p>
            <a:pPr algn="l">
              <a:lnSpc>
                <a:spcPts val="2962"/>
              </a:lnSpc>
            </a:pPr>
            <a:r>
              <a:rPr lang="en-US" sz="2848">
                <a:solidFill>
                  <a:srgbClr val="FFFFFF"/>
                </a:solidFill>
                <a:latin typeface="Arimo"/>
                <a:ea typeface="Arimo"/>
                <a:cs typeface="Arimo"/>
                <a:sym typeface="Arimo"/>
              </a:rPr>
              <a:t>•The company should come up with strategies that aim at stocking and advertising seasonal products to maximize sales when the demand for these goods goes up.</a:t>
            </a:r>
          </a:p>
          <a:p>
            <a:pPr algn="l">
              <a:lnSpc>
                <a:spcPts val="2962"/>
              </a:lnSpc>
            </a:pPr>
            <a:r>
              <a:rPr lang="en-US" sz="2848">
                <a:solidFill>
                  <a:srgbClr val="FFFFFF"/>
                </a:solidFill>
                <a:latin typeface="Arimo"/>
                <a:ea typeface="Arimo"/>
                <a:cs typeface="Arimo"/>
                <a:sym typeface="Arimo"/>
              </a:rPr>
              <a:t>•</a:t>
            </a:r>
          </a:p>
          <a:p>
            <a:pPr algn="l">
              <a:lnSpc>
                <a:spcPts val="2962"/>
              </a:lnSpc>
            </a:pPr>
            <a:r>
              <a:rPr lang="en-US" sz="2848">
                <a:solidFill>
                  <a:srgbClr val="FFFFFF"/>
                </a:solidFill>
                <a:latin typeface="Arimo"/>
                <a:ea typeface="Arimo"/>
                <a:cs typeface="Arimo"/>
                <a:sym typeface="Arimo"/>
              </a:rPr>
              <a:t>•The company should do a deeper analysis of products that are usually in high demand during low-sales months to come up with strategies for marketing these products.</a:t>
            </a:r>
          </a:p>
          <a:p>
            <a:pPr algn="l">
              <a:lnSpc>
                <a:spcPts val="2962"/>
              </a:lnSpc>
            </a:pPr>
            <a:r>
              <a:rPr lang="en-US" sz="2848">
                <a:solidFill>
                  <a:srgbClr val="FFFFFF"/>
                </a:solidFill>
                <a:latin typeface="Arimo"/>
                <a:ea typeface="Arimo"/>
                <a:cs typeface="Arimo"/>
                <a:sym typeface="Arimo"/>
              </a:rPr>
              <a:t>•</a:t>
            </a:r>
          </a:p>
          <a:p>
            <a:pPr algn="l">
              <a:lnSpc>
                <a:spcPts val="2962"/>
              </a:lnSpc>
            </a:pPr>
            <a:r>
              <a:rPr lang="en-US" sz="2848">
                <a:solidFill>
                  <a:srgbClr val="FFFFFF"/>
                </a:solidFill>
                <a:latin typeface="Arimo"/>
                <a:ea typeface="Arimo"/>
                <a:cs typeface="Arimo"/>
                <a:sym typeface="Arimo"/>
              </a:rPr>
              <a:t>•A deeper dive into the type of products and the revenue generated from these products for each region would be key in guiding region-specific marketing strategies.</a:t>
            </a:r>
          </a:p>
          <a:p>
            <a:pPr algn="l">
              <a:lnSpc>
                <a:spcPts val="2962"/>
              </a:lnSpc>
            </a:pPr>
            <a:r>
              <a:rPr lang="en-US" sz="2848">
                <a:solidFill>
                  <a:srgbClr val="FFFFFF"/>
                </a:solidFill>
                <a:latin typeface="Arimo"/>
                <a:ea typeface="Arimo"/>
                <a:cs typeface="Arimo"/>
                <a:sym typeface="Arimo"/>
              </a:rPr>
              <a:t>•</a:t>
            </a:r>
          </a:p>
          <a:p>
            <a:pPr algn="l">
              <a:lnSpc>
                <a:spcPts val="2962"/>
              </a:lnSpc>
            </a:pPr>
            <a:r>
              <a:rPr lang="en-US" sz="2848">
                <a:solidFill>
                  <a:srgbClr val="FFFFFF"/>
                </a:solidFill>
                <a:latin typeface="Arimo"/>
                <a:ea typeface="Arimo"/>
                <a:cs typeface="Arimo"/>
                <a:sym typeface="Arimo"/>
              </a:rPr>
              <a:t>•The company should consider incentivizing top revenue-generating customers to strengthen the relationship with these customers.</a:t>
            </a:r>
          </a:p>
          <a:p>
            <a:pPr algn="l">
              <a:lnSpc>
                <a:spcPts val="2962"/>
              </a:lnSpc>
            </a:pPr>
            <a:r>
              <a:rPr lang="en-US" sz="2848">
                <a:solidFill>
                  <a:srgbClr val="FFFFFF"/>
                </a:solidFill>
                <a:latin typeface="Arimo"/>
                <a:ea typeface="Arimo"/>
                <a:cs typeface="Arimo"/>
                <a:sym typeface="Arimo"/>
              </a:rPr>
              <a:t>•</a:t>
            </a:r>
          </a:p>
          <a:p>
            <a:pPr algn="l">
              <a:lnSpc>
                <a:spcPts val="2962"/>
              </a:lnSpc>
            </a:pPr>
            <a:r>
              <a:rPr lang="en-US" sz="2848">
                <a:solidFill>
                  <a:srgbClr val="FFFFFF"/>
                </a:solidFill>
                <a:latin typeface="Arimo"/>
                <a:ea typeface="Arimo"/>
                <a:cs typeface="Arimo"/>
                <a:sym typeface="Arimo"/>
              </a:rPr>
              <a:t>•The European Market has more potential for growth and the company should aim at strategies that will increase its market positioning in the region.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6635353" y="6637609"/>
            <a:ext cx="8572348" cy="4043501"/>
          </a:xfrm>
          <a:custGeom>
            <a:avLst/>
            <a:gdLst/>
            <a:ahLst/>
            <a:cxnLst/>
            <a:rect l="l" t="t" r="r" b="b"/>
            <a:pathLst>
              <a:path w="8572348" h="4043501">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081354" y="1028700"/>
            <a:ext cx="4282420" cy="8229600"/>
          </a:xfrm>
          <a:custGeom>
            <a:avLst/>
            <a:gdLst/>
            <a:ahLst/>
            <a:cxnLst/>
            <a:rect l="l" t="t" r="r" b="b"/>
            <a:pathLst>
              <a:path w="4282420" h="8229600">
                <a:moveTo>
                  <a:pt x="0" y="0"/>
                </a:moveTo>
                <a:lnTo>
                  <a:pt x="4282420" y="0"/>
                </a:lnTo>
                <a:lnTo>
                  <a:pt x="4282420" y="8229600"/>
                </a:lnTo>
                <a:lnTo>
                  <a:pt x="0" y="8229600"/>
                </a:lnTo>
                <a:lnTo>
                  <a:pt x="0" y="0"/>
                </a:lnTo>
                <a:close/>
              </a:path>
            </a:pathLst>
          </a:custGeom>
          <a:blipFill>
            <a:blip r:embed="rId4"/>
            <a:stretch>
              <a:fillRect/>
            </a:stretch>
          </a:blipFill>
        </p:spPr>
      </p:sp>
      <p:sp>
        <p:nvSpPr>
          <p:cNvPr id="4" name="Freeform 4"/>
          <p:cNvSpPr/>
          <p:nvPr/>
        </p:nvSpPr>
        <p:spPr>
          <a:xfrm flipH="1">
            <a:off x="0" y="1028700"/>
            <a:ext cx="4282420" cy="8229600"/>
          </a:xfrm>
          <a:custGeom>
            <a:avLst/>
            <a:gdLst/>
            <a:ahLst/>
            <a:cxnLst/>
            <a:rect l="l" t="t" r="r" b="b"/>
            <a:pathLst>
              <a:path w="4282420" h="8229600">
                <a:moveTo>
                  <a:pt x="4282420" y="0"/>
                </a:moveTo>
                <a:lnTo>
                  <a:pt x="0" y="0"/>
                </a:lnTo>
                <a:lnTo>
                  <a:pt x="0" y="8229600"/>
                </a:lnTo>
                <a:lnTo>
                  <a:pt x="4282420" y="8229600"/>
                </a:lnTo>
                <a:lnTo>
                  <a:pt x="4282420" y="0"/>
                </a:lnTo>
                <a:close/>
              </a:path>
            </a:pathLst>
          </a:custGeom>
          <a:blipFill>
            <a:blip r:embed="rId4"/>
            <a:stretch>
              <a:fillRect/>
            </a:stretch>
          </a:blipFill>
        </p:spPr>
      </p:sp>
      <p:sp>
        <p:nvSpPr>
          <p:cNvPr id="5" name="TextBox 5"/>
          <p:cNvSpPr txBox="1"/>
          <p:nvPr/>
        </p:nvSpPr>
        <p:spPr>
          <a:xfrm>
            <a:off x="4628749" y="3858064"/>
            <a:ext cx="9030502" cy="3396836"/>
          </a:xfrm>
          <a:prstGeom prst="rect">
            <a:avLst/>
          </a:prstGeom>
        </p:spPr>
        <p:txBody>
          <a:bodyPr lIns="0" tIns="0" rIns="0" bIns="0" rtlCol="0" anchor="t">
            <a:spAutoFit/>
          </a:bodyPr>
          <a:lstStyle/>
          <a:p>
            <a:pPr algn="ctr">
              <a:lnSpc>
                <a:spcPts val="13184"/>
              </a:lnSpc>
            </a:pPr>
            <a:r>
              <a:rPr lang="en-US" sz="12438" spc="1243">
                <a:solidFill>
                  <a:srgbClr val="FFFFFF"/>
                </a:solidFill>
                <a:latin typeface="League Spartan"/>
                <a:ea typeface="League Spartan"/>
                <a:cs typeface="League Spartan"/>
                <a:sym typeface="League Spartan"/>
              </a:rPr>
              <a:t>THANK YOU</a:t>
            </a:r>
          </a:p>
        </p:txBody>
      </p:sp>
      <p:sp>
        <p:nvSpPr>
          <p:cNvPr id="6" name="Freeform 6"/>
          <p:cNvSpPr/>
          <p:nvPr/>
        </p:nvSpPr>
        <p:spPr>
          <a:xfrm>
            <a:off x="0" y="6637609"/>
            <a:ext cx="8572348" cy="4043501"/>
          </a:xfrm>
          <a:custGeom>
            <a:avLst/>
            <a:gdLst/>
            <a:ahLst/>
            <a:cxnLst/>
            <a:rect l="l" t="t" r="r" b="b"/>
            <a:pathLst>
              <a:path w="8572348" h="4043501">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3270706" y="6637609"/>
            <a:ext cx="5322094" cy="4043501"/>
          </a:xfrm>
          <a:custGeom>
            <a:avLst/>
            <a:gdLst/>
            <a:ahLst/>
            <a:cxnLst/>
            <a:rect l="l" t="t" r="r" b="b"/>
            <a:pathLst>
              <a:path w="8572348" h="4043501">
                <a:moveTo>
                  <a:pt x="0" y="0"/>
                </a:moveTo>
                <a:lnTo>
                  <a:pt x="8572348" y="0"/>
                </a:lnTo>
                <a:lnTo>
                  <a:pt x="8572348" y="4043501"/>
                </a:lnTo>
                <a:lnTo>
                  <a:pt x="0" y="40435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8278001" y="1028700"/>
            <a:ext cx="1731997" cy="1499565"/>
          </a:xfrm>
          <a:custGeom>
            <a:avLst/>
            <a:gdLst/>
            <a:ahLst/>
            <a:cxnLst/>
            <a:rect l="l" t="t" r="r" b="b"/>
            <a:pathLst>
              <a:path w="1731997" h="1499565">
                <a:moveTo>
                  <a:pt x="0" y="0"/>
                </a:moveTo>
                <a:lnTo>
                  <a:pt x="1731998" y="0"/>
                </a:lnTo>
                <a:lnTo>
                  <a:pt x="1731998" y="1499565"/>
                </a:lnTo>
                <a:lnTo>
                  <a:pt x="0" y="14995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5718876" y="7664836"/>
            <a:ext cx="313064" cy="313064"/>
          </a:xfrm>
          <a:custGeom>
            <a:avLst/>
            <a:gdLst/>
            <a:ahLst/>
            <a:cxnLst/>
            <a:rect l="l" t="t" r="r" b="b"/>
            <a:pathLst>
              <a:path w="313064" h="313064">
                <a:moveTo>
                  <a:pt x="0" y="0"/>
                </a:moveTo>
                <a:lnTo>
                  <a:pt x="313065" y="0"/>
                </a:lnTo>
                <a:lnTo>
                  <a:pt x="313065" y="313064"/>
                </a:lnTo>
                <a:lnTo>
                  <a:pt x="0" y="31306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6163925" y="7683886"/>
            <a:ext cx="3174475" cy="294014"/>
          </a:xfrm>
          <a:prstGeom prst="rect">
            <a:avLst/>
          </a:prstGeom>
        </p:spPr>
        <p:txBody>
          <a:bodyPr lIns="0" tIns="0" rIns="0" bIns="0" rtlCol="0" anchor="t">
            <a:spAutoFit/>
          </a:bodyPr>
          <a:lstStyle/>
          <a:p>
            <a:pPr algn="l">
              <a:lnSpc>
                <a:spcPts val="2196"/>
              </a:lnSpc>
            </a:pPr>
            <a:r>
              <a:rPr lang="en-US" sz="2071" spc="207">
                <a:solidFill>
                  <a:srgbClr val="FFFFFF"/>
                </a:solidFill>
                <a:latin typeface="Arimo"/>
                <a:ea typeface="Arimo"/>
                <a:cs typeface="Arimo"/>
                <a:sym typeface="Arimo"/>
              </a:rPr>
              <a:t>123-456-7890</a:t>
            </a:r>
          </a:p>
        </p:txBody>
      </p:sp>
      <p:sp>
        <p:nvSpPr>
          <p:cNvPr id="11" name="Freeform 11"/>
          <p:cNvSpPr/>
          <p:nvPr/>
        </p:nvSpPr>
        <p:spPr>
          <a:xfrm>
            <a:off x="8631346" y="7664836"/>
            <a:ext cx="313064" cy="313064"/>
          </a:xfrm>
          <a:custGeom>
            <a:avLst/>
            <a:gdLst/>
            <a:ahLst/>
            <a:cxnLst/>
            <a:rect l="l" t="t" r="r" b="b"/>
            <a:pathLst>
              <a:path w="313064" h="313064">
                <a:moveTo>
                  <a:pt x="0" y="0"/>
                </a:moveTo>
                <a:lnTo>
                  <a:pt x="313064" y="0"/>
                </a:lnTo>
                <a:lnTo>
                  <a:pt x="313064" y="313064"/>
                </a:lnTo>
                <a:lnTo>
                  <a:pt x="0" y="31306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TextBox 12"/>
          <p:cNvSpPr txBox="1"/>
          <p:nvPr/>
        </p:nvSpPr>
        <p:spPr>
          <a:xfrm>
            <a:off x="9076395" y="7683886"/>
            <a:ext cx="4194311" cy="294014"/>
          </a:xfrm>
          <a:prstGeom prst="rect">
            <a:avLst/>
          </a:prstGeom>
        </p:spPr>
        <p:txBody>
          <a:bodyPr lIns="0" tIns="0" rIns="0" bIns="0" rtlCol="0" anchor="t">
            <a:spAutoFit/>
          </a:bodyPr>
          <a:lstStyle/>
          <a:p>
            <a:pPr algn="l">
              <a:lnSpc>
                <a:spcPts val="2196"/>
              </a:lnSpc>
            </a:pPr>
            <a:r>
              <a:rPr lang="en-US" sz="2071" spc="207">
                <a:solidFill>
                  <a:srgbClr val="FFFFFF"/>
                </a:solidFill>
                <a:latin typeface="Arimo"/>
                <a:ea typeface="Arimo"/>
                <a:cs typeface="Arimo"/>
                <a:sym typeface="Arimo"/>
              </a:rPr>
              <a:t>hello@reallygreatsite.com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748</Words>
  <Application>Microsoft Office PowerPoint</Application>
  <PresentationFormat>Custom</PresentationFormat>
  <Paragraphs>63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League Spartan</vt:lpstr>
      <vt:lpstr>Calibri</vt:lpstr>
      <vt:lpstr>Arimo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Data Visualization: Empowering Business with Effective Insights</dc:title>
  <cp:lastModifiedBy>BIDYASHREE NAYAK</cp:lastModifiedBy>
  <cp:revision>2</cp:revision>
  <dcterms:created xsi:type="dcterms:W3CDTF">2006-08-16T00:00:00Z</dcterms:created>
  <dcterms:modified xsi:type="dcterms:W3CDTF">2025-02-11T09:29:04Z</dcterms:modified>
  <dc:identifier>DAGeyOSDB5E</dc:identifier>
</cp:coreProperties>
</file>